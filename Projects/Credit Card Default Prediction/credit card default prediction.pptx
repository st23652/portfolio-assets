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22"/>
  </p:notesMasterIdLst>
  <p:sldIdLst>
    <p:sldId id="256" r:id="rId5"/>
    <p:sldId id="2146847054" r:id="rId6"/>
    <p:sldId id="262" r:id="rId7"/>
    <p:sldId id="263" r:id="rId8"/>
    <p:sldId id="265" r:id="rId9"/>
    <p:sldId id="2146847058" r:id="rId10"/>
    <p:sldId id="2146847059" r:id="rId11"/>
    <p:sldId id="266" r:id="rId12"/>
    <p:sldId id="267" r:id="rId13"/>
    <p:sldId id="2146847060" r:id="rId14"/>
    <p:sldId id="2146847061" r:id="rId15"/>
    <p:sldId id="268" r:id="rId16"/>
    <p:sldId id="2146847055" r:id="rId17"/>
    <p:sldId id="269" r:id="rId18"/>
    <p:sldId id="2146847056" r:id="rId19"/>
    <p:sldId id="2146847057" r:id="rId20"/>
    <p:sldId id="259"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2BA97"/>
    <a:srgbClr val="8E6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63ADEB8-B571-46DD-8D50-E4D38D836777}" v="47" dt="2024-03-25T16:55:25.83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152" autoAdjust="0"/>
    <p:restoredTop sz="94575" autoAdjust="0"/>
  </p:normalViewPr>
  <p:slideViewPr>
    <p:cSldViewPr snapToGrid="0">
      <p:cViewPr>
        <p:scale>
          <a:sx n="60" d="100"/>
          <a:sy n="60" d="100"/>
        </p:scale>
        <p:origin x="904" y="32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neha Tandon" userId="280c305722f66f38" providerId="LiveId" clId="{463ADEB8-B571-46DD-8D50-E4D38D836777}"/>
    <pc:docChg chg="undo custSel addSld modSld">
      <pc:chgData name="Sneha Tandon" userId="280c305722f66f38" providerId="LiveId" clId="{463ADEB8-B571-46DD-8D50-E4D38D836777}" dt="2024-03-25T17:03:55.891" v="7234" actId="313"/>
      <pc:docMkLst>
        <pc:docMk/>
      </pc:docMkLst>
      <pc:sldChg chg="modSp mod">
        <pc:chgData name="Sneha Tandon" userId="280c305722f66f38" providerId="LiveId" clId="{463ADEB8-B571-46DD-8D50-E4D38D836777}" dt="2024-03-25T17:03:55.891" v="7234" actId="313"/>
        <pc:sldMkLst>
          <pc:docMk/>
          <pc:sldMk cId="953325580" sldId="256"/>
        </pc:sldMkLst>
        <pc:spChg chg="mod">
          <ac:chgData name="Sneha Tandon" userId="280c305722f66f38" providerId="LiveId" clId="{463ADEB8-B571-46DD-8D50-E4D38D836777}" dt="2024-03-25T17:03:55.891" v="7234" actId="313"/>
          <ac:spMkLst>
            <pc:docMk/>
            <pc:sldMk cId="953325580" sldId="256"/>
            <ac:spMk id="2" creationId="{A8A11E26-4C38-41A6-9857-11032CEECD80}"/>
          </ac:spMkLst>
        </pc:spChg>
        <pc:spChg chg="mod">
          <ac:chgData name="Sneha Tandon" userId="280c305722f66f38" providerId="LiveId" clId="{463ADEB8-B571-46DD-8D50-E4D38D836777}" dt="2024-03-25T07:56:44.642" v="165" actId="20577"/>
          <ac:spMkLst>
            <pc:docMk/>
            <pc:sldMk cId="953325580" sldId="256"/>
            <ac:spMk id="4" creationId="{00000000-0000-0000-0000-000000000000}"/>
          </ac:spMkLst>
        </pc:spChg>
      </pc:sldChg>
      <pc:sldChg chg="modSp mod">
        <pc:chgData name="Sneha Tandon" userId="280c305722f66f38" providerId="LiveId" clId="{463ADEB8-B571-46DD-8D50-E4D38D836777}" dt="2024-03-25T08:24:15.538" v="166"/>
        <pc:sldMkLst>
          <pc:docMk/>
          <pc:sldMk cId="1186421160" sldId="262"/>
        </pc:sldMkLst>
        <pc:spChg chg="mod">
          <ac:chgData name="Sneha Tandon" userId="280c305722f66f38" providerId="LiveId" clId="{463ADEB8-B571-46DD-8D50-E4D38D836777}" dt="2024-03-25T08:24:15.538" v="166"/>
          <ac:spMkLst>
            <pc:docMk/>
            <pc:sldMk cId="1186421160" sldId="262"/>
            <ac:spMk id="2" creationId="{8FEE4A9C-3F57-7DA7-91FD-715C3FB47F93}"/>
          </ac:spMkLst>
        </pc:spChg>
      </pc:sldChg>
      <pc:sldChg chg="modSp mod">
        <pc:chgData name="Sneha Tandon" userId="280c305722f66f38" providerId="LiveId" clId="{463ADEB8-B571-46DD-8D50-E4D38D836777}" dt="2024-03-25T15:52:11.112" v="4429" actId="20577"/>
        <pc:sldMkLst>
          <pc:docMk/>
          <pc:sldMk cId="3210358481" sldId="263"/>
        </pc:sldMkLst>
        <pc:spChg chg="mod">
          <ac:chgData name="Sneha Tandon" userId="280c305722f66f38" providerId="LiveId" clId="{463ADEB8-B571-46DD-8D50-E4D38D836777}" dt="2024-03-25T15:52:11.112" v="4429" actId="20577"/>
          <ac:spMkLst>
            <pc:docMk/>
            <pc:sldMk cId="3210358481" sldId="263"/>
            <ac:spMk id="2" creationId="{E041FD9D-DF07-9C37-1E61-1D920E0EF1D4}"/>
          </ac:spMkLst>
        </pc:spChg>
      </pc:sldChg>
      <pc:sldChg chg="modSp mod">
        <pc:chgData name="Sneha Tandon" userId="280c305722f66f38" providerId="LiveId" clId="{463ADEB8-B571-46DD-8D50-E4D38D836777}" dt="2024-03-25T14:25:33.668" v="1571" actId="20577"/>
        <pc:sldMkLst>
          <pc:docMk/>
          <pc:sldMk cId="3202024527" sldId="265"/>
        </pc:sldMkLst>
        <pc:spChg chg="mod">
          <ac:chgData name="Sneha Tandon" userId="280c305722f66f38" providerId="LiveId" clId="{463ADEB8-B571-46DD-8D50-E4D38D836777}" dt="2024-03-25T14:25:33.668" v="1571" actId="20577"/>
          <ac:spMkLst>
            <pc:docMk/>
            <pc:sldMk cId="3202024527" sldId="265"/>
            <ac:spMk id="2" creationId="{C4FFAF3C-BA60-9181-132C-C36C403AAEA7}"/>
          </ac:spMkLst>
        </pc:spChg>
      </pc:sldChg>
      <pc:sldChg chg="modSp mod">
        <pc:chgData name="Sneha Tandon" userId="280c305722f66f38" providerId="LiveId" clId="{463ADEB8-B571-46DD-8D50-E4D38D836777}" dt="2024-03-25T15:27:02.034" v="3607" actId="20577"/>
        <pc:sldMkLst>
          <pc:docMk/>
          <pc:sldMk cId="4154508776" sldId="266"/>
        </pc:sldMkLst>
        <pc:spChg chg="mod">
          <ac:chgData name="Sneha Tandon" userId="280c305722f66f38" providerId="LiveId" clId="{463ADEB8-B571-46DD-8D50-E4D38D836777}" dt="2024-03-25T15:27:02.034" v="3607" actId="20577"/>
          <ac:spMkLst>
            <pc:docMk/>
            <pc:sldMk cId="4154508776" sldId="266"/>
            <ac:spMk id="2" creationId="{F7F0871F-2198-9E37-C96F-3611AA199B60}"/>
          </ac:spMkLst>
        </pc:spChg>
      </pc:sldChg>
      <pc:sldChg chg="addSp modSp mod">
        <pc:chgData name="Sneha Tandon" userId="280c305722f66f38" providerId="LiveId" clId="{463ADEB8-B571-46DD-8D50-E4D38D836777}" dt="2024-03-25T15:55:27.835" v="4699" actId="20577"/>
        <pc:sldMkLst>
          <pc:docMk/>
          <pc:sldMk cId="1483293388" sldId="267"/>
        </pc:sldMkLst>
        <pc:spChg chg="mod">
          <ac:chgData name="Sneha Tandon" userId="280c305722f66f38" providerId="LiveId" clId="{463ADEB8-B571-46DD-8D50-E4D38D836777}" dt="2024-03-25T15:55:27.835" v="4699" actId="20577"/>
          <ac:spMkLst>
            <pc:docMk/>
            <pc:sldMk cId="1483293388" sldId="267"/>
            <ac:spMk id="2" creationId="{D3304455-6802-6CA9-8475-2F6DD1B8D409}"/>
          </ac:spMkLst>
        </pc:spChg>
        <pc:picChg chg="add mod">
          <ac:chgData name="Sneha Tandon" userId="280c305722f66f38" providerId="LiveId" clId="{463ADEB8-B571-46DD-8D50-E4D38D836777}" dt="2024-03-25T15:39:36.394" v="4097" actId="1076"/>
          <ac:picMkLst>
            <pc:docMk/>
            <pc:sldMk cId="1483293388" sldId="267"/>
            <ac:picMk id="1026" creationId="{6D955A6E-7B6A-603C-17FC-71BA2431FC3B}"/>
          </ac:picMkLst>
        </pc:picChg>
        <pc:picChg chg="add mod">
          <ac:chgData name="Sneha Tandon" userId="280c305722f66f38" providerId="LiveId" clId="{463ADEB8-B571-46DD-8D50-E4D38D836777}" dt="2024-03-25T15:40:11.715" v="4105" actId="1076"/>
          <ac:picMkLst>
            <pc:docMk/>
            <pc:sldMk cId="1483293388" sldId="267"/>
            <ac:picMk id="1028" creationId="{6D89C5EB-A050-633A-010C-DDD8E9B0B5C7}"/>
          </ac:picMkLst>
        </pc:picChg>
      </pc:sldChg>
      <pc:sldChg chg="modSp mod">
        <pc:chgData name="Sneha Tandon" userId="280c305722f66f38" providerId="LiveId" clId="{463ADEB8-B571-46DD-8D50-E4D38D836777}" dt="2024-03-25T16:20:30.381" v="5676" actId="20577"/>
        <pc:sldMkLst>
          <pc:docMk/>
          <pc:sldMk cId="3183315129" sldId="268"/>
        </pc:sldMkLst>
        <pc:spChg chg="mod">
          <ac:chgData name="Sneha Tandon" userId="280c305722f66f38" providerId="LiveId" clId="{463ADEB8-B571-46DD-8D50-E4D38D836777}" dt="2024-03-25T16:20:30.381" v="5676" actId="20577"/>
          <ac:spMkLst>
            <pc:docMk/>
            <pc:sldMk cId="3183315129" sldId="268"/>
            <ac:spMk id="2" creationId="{005E46AB-32C4-4B57-A2B1-50738A64BE1B}"/>
          </ac:spMkLst>
        </pc:spChg>
      </pc:sldChg>
      <pc:sldChg chg="modSp mod">
        <pc:chgData name="Sneha Tandon" userId="280c305722f66f38" providerId="LiveId" clId="{463ADEB8-B571-46DD-8D50-E4D38D836777}" dt="2024-03-25T16:55:51.393" v="7228" actId="1076"/>
        <pc:sldMkLst>
          <pc:docMk/>
          <pc:sldMk cId="728950222" sldId="269"/>
        </pc:sldMkLst>
        <pc:spChg chg="mod">
          <ac:chgData name="Sneha Tandon" userId="280c305722f66f38" providerId="LiveId" clId="{463ADEB8-B571-46DD-8D50-E4D38D836777}" dt="2024-03-25T16:55:51.393" v="7228" actId="1076"/>
          <ac:spMkLst>
            <pc:docMk/>
            <pc:sldMk cId="728950222" sldId="269"/>
            <ac:spMk id="2" creationId="{357C38BC-22B3-37B2-E0C3-812020A76077}"/>
          </ac:spMkLst>
        </pc:spChg>
      </pc:sldChg>
      <pc:sldChg chg="modSp mod">
        <pc:chgData name="Sneha Tandon" userId="280c305722f66f38" providerId="LiveId" clId="{463ADEB8-B571-46DD-8D50-E4D38D836777}" dt="2024-03-25T16:48:11.665" v="6970" actId="20577"/>
        <pc:sldMkLst>
          <pc:docMk/>
          <pc:sldMk cId="614882681" sldId="2146847055"/>
        </pc:sldMkLst>
        <pc:spChg chg="mod">
          <ac:chgData name="Sneha Tandon" userId="280c305722f66f38" providerId="LiveId" clId="{463ADEB8-B571-46DD-8D50-E4D38D836777}" dt="2024-03-25T16:48:11.665" v="6970" actId="20577"/>
          <ac:spMkLst>
            <pc:docMk/>
            <pc:sldMk cId="614882681" sldId="2146847055"/>
            <ac:spMk id="3" creationId="{A6638FD1-D00E-E75B-705C-564F06D93D7B}"/>
          </ac:spMkLst>
        </pc:spChg>
      </pc:sldChg>
      <pc:sldChg chg="addSp modSp mod">
        <pc:chgData name="Sneha Tandon" userId="280c305722f66f38" providerId="LiveId" clId="{463ADEB8-B571-46DD-8D50-E4D38D836777}" dt="2024-03-25T17:02:51.875" v="7231" actId="1076"/>
        <pc:sldMkLst>
          <pc:docMk/>
          <pc:sldMk cId="3929826735" sldId="2146847056"/>
        </pc:sldMkLst>
        <pc:picChg chg="add mod">
          <ac:chgData name="Sneha Tandon" userId="280c305722f66f38" providerId="LiveId" clId="{463ADEB8-B571-46DD-8D50-E4D38D836777}" dt="2024-03-25T17:02:51.875" v="7231" actId="1076"/>
          <ac:picMkLst>
            <pc:docMk/>
            <pc:sldMk cId="3929826735" sldId="2146847056"/>
            <ac:picMk id="4" creationId="{275C6DE4-5B6E-9492-83F8-56229602E3C8}"/>
          </ac:picMkLst>
        </pc:picChg>
      </pc:sldChg>
      <pc:sldChg chg="addSp modSp mod">
        <pc:chgData name="Sneha Tandon" userId="280c305722f66f38" providerId="LiveId" clId="{463ADEB8-B571-46DD-8D50-E4D38D836777}" dt="2024-03-25T17:03:38.711" v="7233" actId="1076"/>
        <pc:sldMkLst>
          <pc:docMk/>
          <pc:sldMk cId="2512310230" sldId="2146847057"/>
        </pc:sldMkLst>
        <pc:picChg chg="add mod">
          <ac:chgData name="Sneha Tandon" userId="280c305722f66f38" providerId="LiveId" clId="{463ADEB8-B571-46DD-8D50-E4D38D836777}" dt="2024-03-25T17:03:38.711" v="7233" actId="1076"/>
          <ac:picMkLst>
            <pc:docMk/>
            <pc:sldMk cId="2512310230" sldId="2146847057"/>
            <ac:picMk id="4" creationId="{4D234B73-E889-CFF0-BD55-AC0D914F87D3}"/>
          </ac:picMkLst>
        </pc:picChg>
      </pc:sldChg>
      <pc:sldChg chg="modSp new mod">
        <pc:chgData name="Sneha Tandon" userId="280c305722f66f38" providerId="LiveId" clId="{463ADEB8-B571-46DD-8D50-E4D38D836777}" dt="2024-03-25T14:30:30.348" v="2021" actId="20577"/>
        <pc:sldMkLst>
          <pc:docMk/>
          <pc:sldMk cId="2513937475" sldId="2146847058"/>
        </pc:sldMkLst>
        <pc:spChg chg="mod">
          <ac:chgData name="Sneha Tandon" userId="280c305722f66f38" providerId="LiveId" clId="{463ADEB8-B571-46DD-8D50-E4D38D836777}" dt="2024-03-25T14:26:11.661" v="1601" actId="20577"/>
          <ac:spMkLst>
            <pc:docMk/>
            <pc:sldMk cId="2513937475" sldId="2146847058"/>
            <ac:spMk id="2" creationId="{F12E2CA0-E81D-A9DE-FA14-E675CC36B467}"/>
          </ac:spMkLst>
        </pc:spChg>
        <pc:spChg chg="mod">
          <ac:chgData name="Sneha Tandon" userId="280c305722f66f38" providerId="LiveId" clId="{463ADEB8-B571-46DD-8D50-E4D38D836777}" dt="2024-03-25T14:30:30.348" v="2021" actId="20577"/>
          <ac:spMkLst>
            <pc:docMk/>
            <pc:sldMk cId="2513937475" sldId="2146847058"/>
            <ac:spMk id="3" creationId="{C70A7393-DF50-1547-021C-664B78BB9E84}"/>
          </ac:spMkLst>
        </pc:spChg>
      </pc:sldChg>
      <pc:sldChg chg="modSp new mod">
        <pc:chgData name="Sneha Tandon" userId="280c305722f66f38" providerId="LiveId" clId="{463ADEB8-B571-46DD-8D50-E4D38D836777}" dt="2024-03-25T14:33:21.573" v="2249" actId="20577"/>
        <pc:sldMkLst>
          <pc:docMk/>
          <pc:sldMk cId="2646870168" sldId="2146847059"/>
        </pc:sldMkLst>
        <pc:spChg chg="mod">
          <ac:chgData name="Sneha Tandon" userId="280c305722f66f38" providerId="LiveId" clId="{463ADEB8-B571-46DD-8D50-E4D38D836777}" dt="2024-03-25T14:31:09.431" v="2062" actId="20577"/>
          <ac:spMkLst>
            <pc:docMk/>
            <pc:sldMk cId="2646870168" sldId="2146847059"/>
            <ac:spMk id="2" creationId="{C5579234-CDC5-D445-E642-328813DDF575}"/>
          </ac:spMkLst>
        </pc:spChg>
        <pc:spChg chg="mod">
          <ac:chgData name="Sneha Tandon" userId="280c305722f66f38" providerId="LiveId" clId="{463ADEB8-B571-46DD-8D50-E4D38D836777}" dt="2024-03-25T14:33:21.573" v="2249" actId="20577"/>
          <ac:spMkLst>
            <pc:docMk/>
            <pc:sldMk cId="2646870168" sldId="2146847059"/>
            <ac:spMk id="3" creationId="{FFB64EA2-B275-4101-F897-A9F58A12CECA}"/>
          </ac:spMkLst>
        </pc:spChg>
      </pc:sldChg>
      <pc:sldChg chg="addSp delSp modSp new mod">
        <pc:chgData name="Sneha Tandon" userId="280c305722f66f38" providerId="LiveId" clId="{463ADEB8-B571-46DD-8D50-E4D38D836777}" dt="2024-03-25T15:44:40.170" v="4336" actId="1076"/>
        <pc:sldMkLst>
          <pc:docMk/>
          <pc:sldMk cId="3804902198" sldId="2146847060"/>
        </pc:sldMkLst>
        <pc:spChg chg="mod">
          <ac:chgData name="Sneha Tandon" userId="280c305722f66f38" providerId="LiveId" clId="{463ADEB8-B571-46DD-8D50-E4D38D836777}" dt="2024-03-25T15:42:04.352" v="4133" actId="20577"/>
          <ac:spMkLst>
            <pc:docMk/>
            <pc:sldMk cId="3804902198" sldId="2146847060"/>
            <ac:spMk id="2" creationId="{F8718EDD-18F5-447E-1835-037F47CDE7A0}"/>
          </ac:spMkLst>
        </pc:spChg>
        <pc:spChg chg="add del mod">
          <ac:chgData name="Sneha Tandon" userId="280c305722f66f38" providerId="LiveId" clId="{463ADEB8-B571-46DD-8D50-E4D38D836777}" dt="2024-03-25T15:44:29.139" v="4333" actId="20577"/>
          <ac:spMkLst>
            <pc:docMk/>
            <pc:sldMk cId="3804902198" sldId="2146847060"/>
            <ac:spMk id="3" creationId="{EB95CA03-11CB-78C1-0365-0416164A04E7}"/>
          </ac:spMkLst>
        </pc:spChg>
        <pc:picChg chg="add mod">
          <ac:chgData name="Sneha Tandon" userId="280c305722f66f38" providerId="LiveId" clId="{463ADEB8-B571-46DD-8D50-E4D38D836777}" dt="2024-03-25T15:41:42.262" v="4112"/>
          <ac:picMkLst>
            <pc:docMk/>
            <pc:sldMk cId="3804902198" sldId="2146847060"/>
            <ac:picMk id="2050" creationId="{3EE5957B-273B-5011-0D71-DA282B836D0B}"/>
          </ac:picMkLst>
        </pc:picChg>
        <pc:picChg chg="add mod">
          <ac:chgData name="Sneha Tandon" userId="280c305722f66f38" providerId="LiveId" clId="{463ADEB8-B571-46DD-8D50-E4D38D836777}" dt="2024-03-25T15:44:40.170" v="4336" actId="1076"/>
          <ac:picMkLst>
            <pc:docMk/>
            <pc:sldMk cId="3804902198" sldId="2146847060"/>
            <ac:picMk id="2052" creationId="{D64144D5-F7EF-AEAD-DE01-88D21A0C0ECC}"/>
          </ac:picMkLst>
        </pc:picChg>
      </pc:sldChg>
      <pc:sldChg chg="addSp delSp modSp new mod setBg">
        <pc:chgData name="Sneha Tandon" userId="280c305722f66f38" providerId="LiveId" clId="{463ADEB8-B571-46DD-8D50-E4D38D836777}" dt="2024-03-25T16:21:03.293" v="5713" actId="20577"/>
        <pc:sldMkLst>
          <pc:docMk/>
          <pc:sldMk cId="4013297849" sldId="2146847061"/>
        </pc:sldMkLst>
        <pc:spChg chg="add del mod">
          <ac:chgData name="Sneha Tandon" userId="280c305722f66f38" providerId="LiveId" clId="{463ADEB8-B571-46DD-8D50-E4D38D836777}" dt="2024-03-25T15:57:12.309" v="4722" actId="20577"/>
          <ac:spMkLst>
            <pc:docMk/>
            <pc:sldMk cId="4013297849" sldId="2146847061"/>
            <ac:spMk id="2" creationId="{18464E47-FD70-AC10-4F5C-B5F1651E1E87}"/>
          </ac:spMkLst>
        </pc:spChg>
        <pc:spChg chg="del mod">
          <ac:chgData name="Sneha Tandon" userId="280c305722f66f38" providerId="LiveId" clId="{463ADEB8-B571-46DD-8D50-E4D38D836777}" dt="2024-03-25T15:45:41.066" v="4355" actId="478"/>
          <ac:spMkLst>
            <pc:docMk/>
            <pc:sldMk cId="4013297849" sldId="2146847061"/>
            <ac:spMk id="3" creationId="{F30F30F8-497B-72AC-7B77-7E8ECA665CC0}"/>
          </ac:spMkLst>
        </pc:spChg>
        <pc:spChg chg="add del mod">
          <ac:chgData name="Sneha Tandon" userId="280c305722f66f38" providerId="LiveId" clId="{463ADEB8-B571-46DD-8D50-E4D38D836777}" dt="2024-03-25T16:21:03.293" v="5713" actId="20577"/>
          <ac:spMkLst>
            <pc:docMk/>
            <pc:sldMk cId="4013297849" sldId="2146847061"/>
            <ac:spMk id="5" creationId="{5BFA237D-D0DE-01C5-7F29-0D0BF50DE3B7}"/>
          </ac:spMkLst>
        </pc:spChg>
        <pc:spChg chg="add del">
          <ac:chgData name="Sneha Tandon" userId="280c305722f66f38" providerId="LiveId" clId="{463ADEB8-B571-46DD-8D50-E4D38D836777}" dt="2024-03-25T15:46:21.727" v="4365" actId="26606"/>
          <ac:spMkLst>
            <pc:docMk/>
            <pc:sldMk cId="4013297849" sldId="2146847061"/>
            <ac:spMk id="3081" creationId="{E6C8E6EB-4C59-429B-97E4-72A058CFC4FB}"/>
          </ac:spMkLst>
        </pc:spChg>
        <pc:spChg chg="add del">
          <ac:chgData name="Sneha Tandon" userId="280c305722f66f38" providerId="LiveId" clId="{463ADEB8-B571-46DD-8D50-E4D38D836777}" dt="2024-03-25T15:46:21.727" v="4365" actId="26606"/>
          <ac:spMkLst>
            <pc:docMk/>
            <pc:sldMk cId="4013297849" sldId="2146847061"/>
            <ac:spMk id="3083" creationId="{B5B90362-AFCC-46A9-B41C-A257A8C5B314}"/>
          </ac:spMkLst>
        </pc:spChg>
        <pc:spChg chg="add del">
          <ac:chgData name="Sneha Tandon" userId="280c305722f66f38" providerId="LiveId" clId="{463ADEB8-B571-46DD-8D50-E4D38D836777}" dt="2024-03-25T15:46:21.727" v="4365" actId="26606"/>
          <ac:spMkLst>
            <pc:docMk/>
            <pc:sldMk cId="4013297849" sldId="2146847061"/>
            <ac:spMk id="3085" creationId="{F71EF7F1-38BA-471D-8CD4-2A9AE8E35527}"/>
          </ac:spMkLst>
        </pc:spChg>
        <pc:spChg chg="add del">
          <ac:chgData name="Sneha Tandon" userId="280c305722f66f38" providerId="LiveId" clId="{463ADEB8-B571-46DD-8D50-E4D38D836777}" dt="2024-03-25T15:46:21.727" v="4365" actId="26606"/>
          <ac:spMkLst>
            <pc:docMk/>
            <pc:sldMk cId="4013297849" sldId="2146847061"/>
            <ac:spMk id="3087" creationId="{C0524398-BFB4-4C4A-8317-83B8729F9B26}"/>
          </ac:spMkLst>
        </pc:spChg>
        <pc:spChg chg="add del">
          <ac:chgData name="Sneha Tandon" userId="280c305722f66f38" providerId="LiveId" clId="{463ADEB8-B571-46DD-8D50-E4D38D836777}" dt="2024-03-25T15:46:21.727" v="4365" actId="26606"/>
          <ac:spMkLst>
            <pc:docMk/>
            <pc:sldMk cId="4013297849" sldId="2146847061"/>
            <ac:spMk id="3089" creationId="{2FB82883-1DC0-4BE1-A607-009095F3355A}"/>
          </ac:spMkLst>
        </pc:spChg>
        <pc:spChg chg="add del">
          <ac:chgData name="Sneha Tandon" userId="280c305722f66f38" providerId="LiveId" clId="{463ADEB8-B571-46DD-8D50-E4D38D836777}" dt="2024-03-25T15:46:21.727" v="4365" actId="26606"/>
          <ac:spMkLst>
            <pc:docMk/>
            <pc:sldMk cId="4013297849" sldId="2146847061"/>
            <ac:spMk id="3091" creationId="{9FA98EAA-A866-4C95-A2A8-44E46FBAD5A0}"/>
          </ac:spMkLst>
        </pc:spChg>
        <pc:picChg chg="add">
          <ac:chgData name="Sneha Tandon" userId="280c305722f66f38" providerId="LiveId" clId="{463ADEB8-B571-46DD-8D50-E4D38D836777}" dt="2024-03-25T15:45:47.674" v="4357"/>
          <ac:picMkLst>
            <pc:docMk/>
            <pc:sldMk cId="4013297849" sldId="2146847061"/>
            <ac:picMk id="3074" creationId="{214086F7-7588-7A18-9E5E-8E6A43444760}"/>
          </ac:picMkLst>
        </pc:picChg>
        <pc:picChg chg="add del">
          <ac:chgData name="Sneha Tandon" userId="280c305722f66f38" providerId="LiveId" clId="{463ADEB8-B571-46DD-8D50-E4D38D836777}" dt="2024-03-25T15:46:17.506" v="4360" actId="478"/>
          <ac:picMkLst>
            <pc:docMk/>
            <pc:sldMk cId="4013297849" sldId="2146847061"/>
            <ac:picMk id="3076" creationId="{A3787CF7-CA5C-0CA4-7AA9-002E4067E4B4}"/>
          </ac:picMkLst>
        </pc:picChg>
        <pc:picChg chg="add del mod">
          <ac:chgData name="Sneha Tandon" userId="280c305722f66f38" providerId="LiveId" clId="{463ADEB8-B571-46DD-8D50-E4D38D836777}" dt="2024-03-25T15:46:21.727" v="4365" actId="26606"/>
          <ac:picMkLst>
            <pc:docMk/>
            <pc:sldMk cId="4013297849" sldId="2146847061"/>
            <ac:picMk id="3078" creationId="{A3787CF7-CA5C-0CA4-7AA9-002E4067E4B4}"/>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256A78-79A6-408F-8148-4F87BB81602D}" type="datetimeFigureOut">
              <a:rPr lang="en-IN" smtClean="0"/>
              <a:t>25-03-2024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E254F1-4415-47BF-9E91-C5D4B9A33350}" type="slidenum">
              <a:rPr lang="en-IN" smtClean="0"/>
              <a:t>‹#›</a:t>
            </a:fld>
            <a:endParaRPr lang="en-IN"/>
          </a:p>
        </p:txBody>
      </p:sp>
    </p:spTree>
    <p:extLst>
      <p:ext uri="{BB962C8B-B14F-4D97-AF65-F5344CB8AC3E}">
        <p14:creationId xmlns:p14="http://schemas.microsoft.com/office/powerpoint/2010/main" val="538008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E254F1-4415-47BF-9E91-C5D4B9A33350}" type="slidenum">
              <a:rPr lang="en-IN" smtClean="0"/>
              <a:t>4</a:t>
            </a:fld>
            <a:endParaRPr lang="en-IN"/>
          </a:p>
        </p:txBody>
      </p:sp>
    </p:spTree>
    <p:extLst>
      <p:ext uri="{BB962C8B-B14F-4D97-AF65-F5344CB8AC3E}">
        <p14:creationId xmlns:p14="http://schemas.microsoft.com/office/powerpoint/2010/main" val="8281304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E254F1-4415-47BF-9E91-C5D4B9A33350}" type="slidenum">
              <a:rPr lang="en-IN" smtClean="0"/>
              <a:t>9</a:t>
            </a:fld>
            <a:endParaRPr lang="en-IN"/>
          </a:p>
        </p:txBody>
      </p:sp>
    </p:spTree>
    <p:extLst>
      <p:ext uri="{BB962C8B-B14F-4D97-AF65-F5344CB8AC3E}">
        <p14:creationId xmlns:p14="http://schemas.microsoft.com/office/powerpoint/2010/main" val="2732718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E254F1-4415-47BF-9E91-C5D4B9A33350}" type="slidenum">
              <a:rPr lang="en-IN" smtClean="0"/>
              <a:t>12</a:t>
            </a:fld>
            <a:endParaRPr lang="en-IN"/>
          </a:p>
        </p:txBody>
      </p:sp>
    </p:spTree>
    <p:extLst>
      <p:ext uri="{BB962C8B-B14F-4D97-AF65-F5344CB8AC3E}">
        <p14:creationId xmlns:p14="http://schemas.microsoft.com/office/powerpoint/2010/main" val="19736582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3/25/2024</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530296"/>
          </a:xfrm>
        </p:spPr>
        <p:txBody>
          <a:bodyPr/>
          <a:lstStyle/>
          <a:p>
            <a:r>
              <a:rPr lang="en-US"/>
              <a:t>Click to edit Master title style</a:t>
            </a:r>
          </a:p>
        </p:txBody>
      </p:sp>
      <p:sp>
        <p:nvSpPr>
          <p:cNvPr id="3" name="Content Placeholder 2"/>
          <p:cNvSpPr>
            <a:spLocks noGrp="1"/>
          </p:cNvSpPr>
          <p:nvPr>
            <p:ph idx="1"/>
          </p:nvPr>
        </p:nvSpPr>
        <p:spPr>
          <a:xfrm>
            <a:off x="581192" y="1302026"/>
            <a:ext cx="11029615" cy="4673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3/25/2024</a:t>
            </a:fld>
            <a:endParaRPr lang="en-US"/>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3/25/2024</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492855"/>
          </a:xfrm>
        </p:spPr>
        <p:txBody>
          <a:bodyPr/>
          <a:lstStyle/>
          <a:p>
            <a:r>
              <a:rPr lang="en-US"/>
              <a:t>Click to edit Master title style</a:t>
            </a:r>
          </a:p>
        </p:txBody>
      </p:sp>
      <p:sp>
        <p:nvSpPr>
          <p:cNvPr id="3" name="Content Placeholder 2"/>
          <p:cNvSpPr>
            <a:spLocks noGrp="1"/>
          </p:cNvSpPr>
          <p:nvPr>
            <p:ph sz="half" idx="1"/>
          </p:nvPr>
        </p:nvSpPr>
        <p:spPr>
          <a:xfrm>
            <a:off x="581193" y="1391479"/>
            <a:ext cx="5194767"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16039" y="1391479"/>
            <a:ext cx="5194769"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BFFD690-9426-415D-8B65-26881E07B2D4}" type="datetime1">
              <a:rPr lang="en-US" smtClean="0"/>
              <a:t>3/25/2024</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4C4989A-474C-40DE-95B9-011C28B71673}" type="datetime1">
              <a:rPr lang="en-US" smtClean="0"/>
              <a:t>3/25/2024</a:t>
            </a:fld>
            <a:endParaRPr lang="en-US"/>
          </a:p>
        </p:txBody>
      </p:sp>
      <p:sp>
        <p:nvSpPr>
          <p:cNvPr id="8" name="Footer Placeholder 7"/>
          <p:cNvSpPr>
            <a:spLocks noGrp="1"/>
          </p:cNvSpPr>
          <p:nvPr>
            <p:ph type="ftr" sz="quarter" idx="11"/>
          </p:nvPr>
        </p:nvSpPr>
        <p:spPr>
          <a:xfrm>
            <a:off x="581192" y="6423914"/>
            <a:ext cx="691721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592246"/>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5DB4ED54-5B5E-4A04-93D3-5772E3CE3818}" type="datetime1">
              <a:rPr lang="en-US" smtClean="0"/>
              <a:t>3/25/2024</a:t>
            </a:fld>
            <a:endParaRPr lang="en-US"/>
          </a:p>
        </p:txBody>
      </p:sp>
      <p:sp>
        <p:nvSpPr>
          <p:cNvPr id="4" name="Footer Placeholder 3"/>
          <p:cNvSpPr>
            <a:spLocks noGrp="1"/>
          </p:cNvSpPr>
          <p:nvPr>
            <p:ph type="ftr" sz="quarter" idx="11"/>
          </p:nvPr>
        </p:nvSpPr>
        <p:spPr>
          <a:xfrm>
            <a:off x="581192" y="6423914"/>
            <a:ext cx="691721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3/25/2024</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3/25/2024</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a:prstGeom prst="rect">
            <a:avLst/>
          </a:prstGeo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3/25/2024</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pPr algn="l"/>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CED4963-E985-44C4-B8C4-FDD613B7C2F8}" type="datetime1">
              <a:rPr lang="en-US" smtClean="0"/>
              <a:t>3/25/2024</a:t>
            </a:fld>
            <a:endParaRPr lang="en-US"/>
          </a:p>
        </p:txBody>
      </p:sp>
      <p:sp>
        <p:nvSpPr>
          <p:cNvPr id="5" name="Footer Placeholder 4"/>
          <p:cNvSpPr>
            <a:spLocks noGrp="1"/>
          </p:cNvSpPr>
          <p:nvPr>
            <p:ph type="ftr" sz="quarter" idx="11"/>
          </p:nvPr>
        </p:nvSpPr>
        <p:spPr>
          <a:xfrm>
            <a:off x="581192" y="6423914"/>
            <a:ext cx="691721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3/25/2024</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557146"/>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1415198"/>
            <a:ext cx="11029616" cy="4572852"/>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3/25/2024</a:t>
            </a:fld>
            <a:endParaRPr lang="en-US"/>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8" name="Picture 7" descr="Logo&#10;&#10;Description automatically generated">
            <a:extLst>
              <a:ext uri="{FF2B5EF4-FFF2-40B4-BE49-F238E27FC236}">
                <a16:creationId xmlns:a16="http://schemas.microsoft.com/office/drawing/2014/main" id="{14A64E4D-8DED-7830-2955-1BE78C5B0655}"/>
              </a:ext>
            </a:extLst>
          </p:cNvPr>
          <p:cNvPicPr>
            <a:picLocks noChangeAspect="1"/>
          </p:cNvPicPr>
          <p:nvPr userDrawn="1"/>
        </p:nvPicPr>
        <p:blipFill>
          <a:blip r:embed="rId13"/>
          <a:stretch>
            <a:fillRect/>
          </a:stretch>
        </p:blipFill>
        <p:spPr>
          <a:xfrm>
            <a:off x="10485003" y="6437910"/>
            <a:ext cx="1125805" cy="365126"/>
          </a:xfrm>
          <a:prstGeom prst="rect">
            <a:avLst/>
          </a:prstGeom>
        </p:spPr>
      </p:pic>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github.com/anishjohnson/Credit_Card_Default_Prediction/blob/main/Credit_Card_Default_Prediction-%20Anish%20Johnson-Presentation.pdf" TargetMode="External"/><Relationship Id="rId7" Type="http://schemas.openxmlformats.org/officeDocument/2006/relationships/hyperlink" Target="https://medium.com/@polanitzer/machine-learning-for-default-of-credit-card-clients-in-taiwan-7336c79b5158" TargetMode="External"/><Relationship Id="rId2" Type="http://schemas.openxmlformats.org/officeDocument/2006/relationships/hyperlink" Target="https://www.kaggle.com/code/fegadeharish/eda-and-logistic-regression/notebook" TargetMode="External"/><Relationship Id="rId1" Type="http://schemas.openxmlformats.org/officeDocument/2006/relationships/slideLayout" Target="../slideLayouts/slideLayout2.xml"/><Relationship Id="rId6" Type="http://schemas.openxmlformats.org/officeDocument/2006/relationships/hyperlink" Target="https://www.kaggle.com/code/bansodesandeep/credit-card-default-prediction#Evaluating-the-models" TargetMode="External"/><Relationship Id="rId5" Type="http://schemas.openxmlformats.org/officeDocument/2006/relationships/hyperlink" Target="https://github.com/CodeWithSridhar/Credit_Card_Default_Prediction/blob/main/Credit_Card_Default_Prediction_Capstone_Project.ipynb" TargetMode="External"/><Relationship Id="rId4" Type="http://schemas.openxmlformats.org/officeDocument/2006/relationships/hyperlink" Target="https://colab.research.google.com/github/CodeWithSridhar/Credit_Card_Default_Prediction/blob/main/Credit_Card_Default_Prediction_Capstone_Project.ipynb#scrollTo=e--YIm0Twg2y" TargetMode="Externa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11E26-4C38-41A6-9857-11032CEECD80}"/>
              </a:ext>
            </a:extLst>
          </p:cNvPr>
          <p:cNvSpPr>
            <a:spLocks noGrp="1"/>
          </p:cNvSpPr>
          <p:nvPr>
            <p:ph type="ctrTitle"/>
          </p:nvPr>
        </p:nvSpPr>
        <p:spPr>
          <a:xfrm>
            <a:off x="1359108" y="1821635"/>
            <a:ext cx="9144000" cy="977778"/>
          </a:xfrm>
        </p:spPr>
        <p:txBody>
          <a:bodyPr/>
          <a:lstStyle/>
          <a:p>
            <a:pPr algn="ctr"/>
            <a:r>
              <a:rPr lang="en-US" b="1" dirty="0">
                <a:solidFill>
                  <a:schemeClr val="accent1"/>
                </a:solidFill>
                <a:latin typeface="Arial" panose="020B0604020202020204" pitchFamily="34" charset="0"/>
                <a:cs typeface="Arial" panose="020B0604020202020204" pitchFamily="34" charset="0"/>
              </a:rPr>
              <a:t>Credit card default prediction</a:t>
            </a:r>
          </a:p>
        </p:txBody>
      </p:sp>
      <p:sp>
        <p:nvSpPr>
          <p:cNvPr id="3" name="TextBox 2"/>
          <p:cNvSpPr txBox="1"/>
          <p:nvPr/>
        </p:nvSpPr>
        <p:spPr>
          <a:xfrm>
            <a:off x="-329782" y="1034321"/>
            <a:ext cx="12726648" cy="584775"/>
          </a:xfrm>
          <a:prstGeom prst="rect">
            <a:avLst/>
          </a:prstGeom>
          <a:noFill/>
        </p:spPr>
        <p:txBody>
          <a:bodyPr wrap="square" lIns="91440" tIns="45720" rIns="91440" bIns="45720" rtlCol="0" anchor="t">
            <a:spAutoFit/>
          </a:bodyPr>
          <a:lstStyle/>
          <a:p>
            <a:pPr algn="ctr"/>
            <a:r>
              <a:rPr lang="en-US" sz="3200" b="1">
                <a:solidFill>
                  <a:schemeClr val="accent1">
                    <a:lumMod val="75000"/>
                  </a:schemeClr>
                </a:solidFill>
                <a:latin typeface="Arial"/>
                <a:cs typeface="Arial"/>
              </a:rPr>
              <a:t>CAPSTONE PROJECT</a:t>
            </a:r>
          </a:p>
        </p:txBody>
      </p:sp>
      <p:sp>
        <p:nvSpPr>
          <p:cNvPr id="4" name="TextBox 3"/>
          <p:cNvSpPr txBox="1"/>
          <p:nvPr/>
        </p:nvSpPr>
        <p:spPr>
          <a:xfrm>
            <a:off x="3117529" y="4586365"/>
            <a:ext cx="7980183" cy="1015663"/>
          </a:xfrm>
          <a:prstGeom prst="rect">
            <a:avLst/>
          </a:prstGeom>
          <a:noFill/>
        </p:spPr>
        <p:txBody>
          <a:bodyPr wrap="square" lIns="91440" tIns="45720" rIns="91440" bIns="45720" rtlCol="0" anchor="t">
            <a:spAutoFit/>
          </a:bodyPr>
          <a:lstStyle/>
          <a:p>
            <a:r>
              <a:rPr lang="en-US" sz="2000" b="1" dirty="0">
                <a:solidFill>
                  <a:schemeClr val="accent1">
                    <a:lumMod val="75000"/>
                  </a:schemeClr>
                </a:solidFill>
                <a:latin typeface="Arial" pitchFamily="34" charset="0"/>
                <a:cs typeface="Arial" pitchFamily="34" charset="0"/>
              </a:rPr>
              <a:t>Presented By:</a:t>
            </a:r>
          </a:p>
          <a:p>
            <a:r>
              <a:rPr lang="en-US" sz="2000" b="1" dirty="0">
                <a:solidFill>
                  <a:schemeClr val="accent1">
                    <a:lumMod val="75000"/>
                  </a:schemeClr>
                </a:solidFill>
                <a:latin typeface="Arial"/>
                <a:cs typeface="Arial"/>
              </a:rPr>
              <a:t>Sneha Tandon – University Of Essex – Computer Science and Electronic Engineering (CSEE)</a:t>
            </a:r>
          </a:p>
        </p:txBody>
      </p:sp>
    </p:spTree>
    <p:extLst>
      <p:ext uri="{BB962C8B-B14F-4D97-AF65-F5344CB8AC3E}">
        <p14:creationId xmlns:p14="http://schemas.microsoft.com/office/powerpoint/2010/main" val="953325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FEB4C-F209-4AE7-AA2B-B3C26CE2C51D}"/>
              </a:ext>
            </a:extLst>
          </p:cNvPr>
          <p:cNvSpPr>
            <a:spLocks noGrp="1"/>
          </p:cNvSpPr>
          <p:nvPr>
            <p:ph type="title"/>
          </p:nvPr>
        </p:nvSpPr>
        <p:spPr>
          <a:xfrm>
            <a:off x="849573" y="558468"/>
            <a:ext cx="10515600" cy="1325563"/>
          </a:xfrm>
        </p:spPr>
        <p:txBody>
          <a:bodyPr/>
          <a:lstStyle/>
          <a:p>
            <a:r>
              <a:rPr lang="en-US" b="1">
                <a:solidFill>
                  <a:srgbClr val="002060"/>
                </a:solidFill>
                <a:latin typeface="Arial" panose="020B0604020202020204" pitchFamily="34" charset="0"/>
                <a:cs typeface="Arial" panose="020B0604020202020204" pitchFamily="34" charset="0"/>
              </a:rPr>
              <a:t>OUTLINE</a:t>
            </a:r>
          </a:p>
        </p:txBody>
      </p:sp>
      <p:sp>
        <p:nvSpPr>
          <p:cNvPr id="3" name="Content Placeholder 2">
            <a:extLst>
              <a:ext uri="{FF2B5EF4-FFF2-40B4-BE49-F238E27FC236}">
                <a16:creationId xmlns:a16="http://schemas.microsoft.com/office/drawing/2014/main" id="{B2678641-EEA3-4EC4-BF39-4075B0C120E8}"/>
              </a:ext>
            </a:extLst>
          </p:cNvPr>
          <p:cNvSpPr>
            <a:spLocks noGrp="1"/>
          </p:cNvSpPr>
          <p:nvPr>
            <p:ph idx="1"/>
          </p:nvPr>
        </p:nvSpPr>
        <p:spPr>
          <a:xfrm>
            <a:off x="838200" y="1618938"/>
            <a:ext cx="11019020" cy="5239062"/>
          </a:xfrm>
        </p:spPr>
        <p:txBody>
          <a:bodyPr vert="horz" lIns="91440" tIns="45720" rIns="91440" bIns="45720" rtlCol="0" anchor="t">
            <a:noAutofit/>
          </a:bodyPr>
          <a:lstStyle/>
          <a:p>
            <a:pPr marL="0" indent="0">
              <a:buNone/>
            </a:pPr>
            <a:r>
              <a:rPr lang="en-US" sz="2000" b="1">
                <a:latin typeface="Arial"/>
                <a:ea typeface="+mn-lt"/>
                <a:cs typeface="Arial"/>
              </a:rPr>
              <a:t>  </a:t>
            </a:r>
            <a:endParaRPr lang="en-US">
              <a:latin typeface="Arial"/>
              <a:cs typeface="Arial"/>
            </a:endParaRPr>
          </a:p>
          <a:p>
            <a:r>
              <a:rPr lang="en-US" sz="2000" b="1">
                <a:latin typeface="Arial"/>
                <a:ea typeface="+mn-lt"/>
                <a:cs typeface="Arial"/>
              </a:rPr>
              <a:t>Problem Statement </a:t>
            </a:r>
            <a:r>
              <a:rPr lang="en-US" sz="2000">
                <a:latin typeface="Arial"/>
                <a:ea typeface="+mn-lt"/>
                <a:cs typeface="Arial"/>
              </a:rPr>
              <a:t>(Should not include solution)</a:t>
            </a:r>
            <a:endParaRPr lang="en-US">
              <a:latin typeface="Arial"/>
              <a:cs typeface="Arial"/>
            </a:endParaRPr>
          </a:p>
          <a:p>
            <a:r>
              <a:rPr lang="en-US" sz="2000" b="1">
                <a:latin typeface="Arial"/>
                <a:ea typeface="+mn-lt"/>
                <a:cs typeface="Arial"/>
              </a:rPr>
              <a:t>Proposed System/Solution</a:t>
            </a:r>
            <a:endParaRPr lang="en-US">
              <a:latin typeface="Arial"/>
              <a:cs typeface="Arial"/>
            </a:endParaRPr>
          </a:p>
          <a:p>
            <a:r>
              <a:rPr lang="en-US" sz="2000" b="1">
                <a:latin typeface="Arial"/>
                <a:ea typeface="+mn-lt"/>
                <a:cs typeface="Calibri"/>
              </a:rPr>
              <a:t>System </a:t>
            </a:r>
            <a:r>
              <a:rPr lang="en-US" sz="2000" b="1">
                <a:latin typeface="Arial"/>
                <a:ea typeface="+mn-lt"/>
                <a:cs typeface="+mn-lt"/>
              </a:rPr>
              <a:t>Development Approach </a:t>
            </a:r>
            <a:r>
              <a:rPr lang="en-US" sz="2000">
                <a:latin typeface="Arial"/>
                <a:ea typeface="+mn-lt"/>
                <a:cs typeface="+mn-lt"/>
              </a:rPr>
              <a:t>(Technology Used) </a:t>
            </a:r>
            <a:endParaRPr lang="en-US">
              <a:latin typeface="Arial"/>
              <a:ea typeface="+mn-lt"/>
              <a:cs typeface="+mn-lt"/>
            </a:endParaRPr>
          </a:p>
          <a:p>
            <a:r>
              <a:rPr lang="en-US" sz="2000" b="1">
                <a:latin typeface="Arial"/>
                <a:ea typeface="+mn-lt"/>
                <a:cs typeface="+mn-lt"/>
              </a:rPr>
              <a:t>Algorithm &amp; Deployment  </a:t>
            </a:r>
            <a:endParaRPr lang="en-US">
              <a:latin typeface="Arial"/>
              <a:cs typeface="Calibri"/>
            </a:endParaRPr>
          </a:p>
          <a:p>
            <a:r>
              <a:rPr lang="en-US" sz="2000" b="1">
                <a:latin typeface="Arial"/>
                <a:ea typeface="+mn-lt"/>
                <a:cs typeface="Arial"/>
              </a:rPr>
              <a:t>Result</a:t>
            </a:r>
          </a:p>
          <a:p>
            <a:r>
              <a:rPr lang="en-US" sz="2000" b="1">
                <a:latin typeface="Arial"/>
                <a:ea typeface="+mn-lt"/>
                <a:cs typeface="Arial"/>
              </a:rPr>
              <a:t>Conclusion</a:t>
            </a:r>
            <a:endParaRPr lang="en-US">
              <a:latin typeface="Arial"/>
              <a:cs typeface="Arial"/>
            </a:endParaRPr>
          </a:p>
          <a:p>
            <a:r>
              <a:rPr lang="en-US" sz="2000" b="1">
                <a:latin typeface="Arial"/>
                <a:ea typeface="+mn-lt"/>
                <a:cs typeface="Arial"/>
              </a:rPr>
              <a:t>Future Scope</a:t>
            </a:r>
          </a:p>
          <a:p>
            <a:r>
              <a:rPr lang="en-US" sz="2000" b="1">
                <a:latin typeface="Arial"/>
                <a:ea typeface="+mn-lt"/>
                <a:cs typeface="Arial"/>
              </a:rPr>
              <a:t>References</a:t>
            </a:r>
            <a:endParaRPr lang="en-US">
              <a:latin typeface="Arial"/>
              <a:cs typeface="Arial"/>
            </a:endParaRPr>
          </a:p>
          <a:p>
            <a:endParaRPr lang="en-US">
              <a:latin typeface="Arial"/>
              <a:cs typeface="Arial"/>
            </a:endParaRPr>
          </a:p>
        </p:txBody>
      </p:sp>
    </p:spTree>
    <p:extLst>
      <p:ext uri="{BB962C8B-B14F-4D97-AF65-F5344CB8AC3E}">
        <p14:creationId xmlns:p14="http://schemas.microsoft.com/office/powerpoint/2010/main" val="2900153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panose="020B0604020202020204" pitchFamily="34" charset="0"/>
                <a:cs typeface="Arial" panose="020B0604020202020204" pitchFamily="34" charset="0"/>
              </a:rPr>
              <a:t>Problem Statement</a:t>
            </a:r>
            <a:endParaRPr lang="en-US" sz="4400"/>
          </a:p>
        </p:txBody>
      </p:sp>
      <p:sp>
        <p:nvSpPr>
          <p:cNvPr id="2" name="Content Placeholder 1">
            <a:extLst>
              <a:ext uri="{FF2B5EF4-FFF2-40B4-BE49-F238E27FC236}">
                <a16:creationId xmlns:a16="http://schemas.microsoft.com/office/drawing/2014/main" id="{8FEE4A9C-3F57-7DA7-91FD-715C3FB47F93}"/>
              </a:ext>
            </a:extLst>
          </p:cNvPr>
          <p:cNvSpPr>
            <a:spLocks noGrp="1"/>
          </p:cNvSpPr>
          <p:nvPr>
            <p:ph idx="1"/>
          </p:nvPr>
        </p:nvSpPr>
        <p:spPr>
          <a:xfrm>
            <a:off x="452403" y="1237632"/>
            <a:ext cx="11029615" cy="4673324"/>
          </a:xfrm>
        </p:spPr>
        <p:txBody>
          <a:bodyPr/>
          <a:lstStyle/>
          <a:p>
            <a:pPr marL="0" indent="0">
              <a:buNone/>
            </a:pPr>
            <a:br>
              <a:rPr lang="en-US" sz="3200" dirty="0"/>
            </a:br>
            <a:r>
              <a:rPr lang="en-US" sz="3200" b="0" i="0" dirty="0">
                <a:solidFill>
                  <a:srgbClr val="242424"/>
                </a:solidFill>
                <a:effectLst/>
                <a:highlight>
                  <a:srgbClr val="F5F5F5"/>
                </a:highlight>
                <a:latin typeface="Aptos Narrow" panose="020B0004020202020204" pitchFamily="34" charset="0"/>
              </a:rPr>
              <a:t>This project is aimed at predicting the case of customers' default payments in Taiwan. From the perspective of risk management, the result of predictive accuracy of the estimated probability of default will be more valuable than the binary result of classification - credible or not credible clients. We can use the K-S chart to evaluate which customers will default on their credit card payments. </a:t>
            </a:r>
            <a:endParaRPr lang="en-IN" dirty="0"/>
          </a:p>
        </p:txBody>
      </p:sp>
    </p:spTree>
    <p:extLst>
      <p:ext uri="{BB962C8B-B14F-4D97-AF65-F5344CB8AC3E}">
        <p14:creationId xmlns:p14="http://schemas.microsoft.com/office/powerpoint/2010/main" val="1186421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panose="020B0604020202020204" pitchFamily="34" charset="0"/>
                <a:cs typeface="Arial" panose="020B0604020202020204" pitchFamily="34" charset="0"/>
              </a:rPr>
              <a:t>Proposed Solution</a:t>
            </a:r>
            <a:endParaRPr lang="en-US" sz="4400"/>
          </a:p>
        </p:txBody>
      </p:sp>
      <p:sp>
        <p:nvSpPr>
          <p:cNvPr id="2" name="Content Placeholder 1">
            <a:extLst>
              <a:ext uri="{FF2B5EF4-FFF2-40B4-BE49-F238E27FC236}">
                <a16:creationId xmlns:a16="http://schemas.microsoft.com/office/drawing/2014/main" id="{E041FD9D-DF07-9C37-1E61-1D920E0EF1D4}"/>
              </a:ext>
            </a:extLst>
          </p:cNvPr>
          <p:cNvSpPr>
            <a:spLocks noGrp="1"/>
          </p:cNvSpPr>
          <p:nvPr>
            <p:ph idx="1"/>
          </p:nvPr>
        </p:nvSpPr>
        <p:spPr>
          <a:xfrm>
            <a:off x="441671" y="1087378"/>
            <a:ext cx="11613485" cy="5563973"/>
          </a:xfrm>
        </p:spPr>
        <p:txBody>
          <a:bodyPr vert="horz" lIns="91440" tIns="45720" rIns="91440" bIns="45720" rtlCol="0" anchor="ctr">
            <a:noAutofit/>
          </a:bodyPr>
          <a:lstStyle/>
          <a:p>
            <a:pPr marL="305435" indent="-305435"/>
            <a:endParaRPr lang="en-IN" sz="1200" b="1" dirty="0">
              <a:latin typeface="Calibri"/>
              <a:cs typeface="Calibri"/>
            </a:endParaRPr>
          </a:p>
          <a:p>
            <a:pPr marL="305435" indent="-305435"/>
            <a:r>
              <a:rPr lang="en-IN" sz="1200" b="1" dirty="0">
                <a:latin typeface="Calibri"/>
                <a:ea typeface="+mn-lt"/>
                <a:cs typeface="+mn-lt"/>
              </a:rPr>
              <a:t>The proposed system aims to address the challenge of predicting the defaulters of credit cards. This involves leveraging data analytics and machine learning techniques to forecast demand patterns accurately. The solution will consist of the following components:</a:t>
            </a:r>
            <a:endParaRPr lang="en-IN" sz="1200" b="1" dirty="0">
              <a:latin typeface="Calibri"/>
              <a:cs typeface="Calibri"/>
            </a:endParaRPr>
          </a:p>
          <a:p>
            <a:pPr marL="305435" indent="-305435"/>
            <a:r>
              <a:rPr lang="en-IN" sz="1200" b="1" dirty="0">
                <a:latin typeface="Calibri"/>
                <a:ea typeface="+mn-lt"/>
                <a:cs typeface="+mn-lt"/>
              </a:rPr>
              <a:t>Data Collection:</a:t>
            </a:r>
            <a:endParaRPr lang="en-IN" sz="1200" b="1" dirty="0">
              <a:latin typeface="Calibri"/>
              <a:cs typeface="Calibri"/>
            </a:endParaRPr>
          </a:p>
          <a:p>
            <a:pPr marL="629920" lvl="1" indent="-305435"/>
            <a:r>
              <a:rPr lang="en-IN" sz="1200" b="1" dirty="0">
                <a:latin typeface="Calibri"/>
                <a:ea typeface="+mn-lt"/>
                <a:cs typeface="+mn-lt"/>
              </a:rPr>
              <a:t>Gathered data on the sex, marriage, kids, education, limited balance, and how much they need to pay and they paid.</a:t>
            </a:r>
          </a:p>
          <a:p>
            <a:pPr marL="629920" lvl="1" indent="-305435"/>
            <a:r>
              <a:rPr lang="en-IN" sz="1200" b="1" dirty="0">
                <a:latin typeface="Calibri"/>
                <a:ea typeface="+mn-lt"/>
                <a:cs typeface="+mn-lt"/>
              </a:rPr>
              <a:t>There is column default pay next month which shows [1 = yes, 0 = no].</a:t>
            </a:r>
            <a:endParaRPr lang="en-IN" sz="1200" b="1" dirty="0">
              <a:latin typeface="Calibri"/>
              <a:cs typeface="Calibri"/>
            </a:endParaRPr>
          </a:p>
          <a:p>
            <a:pPr marL="305435" indent="-305435"/>
            <a:r>
              <a:rPr lang="en-IN" sz="1200" b="1" dirty="0">
                <a:latin typeface="Calibri"/>
                <a:ea typeface="+mn-lt"/>
                <a:cs typeface="+mn-lt"/>
              </a:rPr>
              <a:t>Data Preprocessing:</a:t>
            </a:r>
          </a:p>
          <a:p>
            <a:pPr marL="629435" lvl="1" indent="-305435"/>
            <a:r>
              <a:rPr lang="en-IN" sz="900" b="1" dirty="0">
                <a:latin typeface="Calibri"/>
                <a:cs typeface="Calibri"/>
              </a:rPr>
              <a:t>The data preprocessing techniques used are handling missing values, encoding categorical variables,  feature scaling, feature selection, handling class imbalance and handling outliers.</a:t>
            </a:r>
          </a:p>
          <a:p>
            <a:pPr marL="305435" indent="-305435"/>
            <a:r>
              <a:rPr lang="en-IN" sz="1200" b="1" dirty="0">
                <a:latin typeface="Calibri"/>
                <a:ea typeface="+mn-lt"/>
                <a:cs typeface="+mn-lt"/>
              </a:rPr>
              <a:t>Machine Learning Algorithm:</a:t>
            </a:r>
            <a:endParaRPr lang="en-IN" sz="1200" b="1" dirty="0">
              <a:latin typeface="Calibri"/>
              <a:cs typeface="Calibri"/>
            </a:endParaRPr>
          </a:p>
          <a:p>
            <a:pPr marL="629920" lvl="1" indent="-305435"/>
            <a:r>
              <a:rPr lang="en-IN" sz="1200" b="1" dirty="0">
                <a:latin typeface="Calibri"/>
                <a:ea typeface="+mn-lt"/>
                <a:cs typeface="+mn-lt"/>
              </a:rPr>
              <a:t>Implement a machine learning algorithm, such as Logistic Regression, SVC, Random Forest, Decision Tree and </a:t>
            </a:r>
            <a:r>
              <a:rPr lang="en-IN" sz="1200" b="1" dirty="0" err="1">
                <a:latin typeface="Calibri"/>
                <a:ea typeface="+mn-lt"/>
                <a:cs typeface="+mn-lt"/>
              </a:rPr>
              <a:t>XGBoost</a:t>
            </a:r>
            <a:r>
              <a:rPr lang="en-IN" sz="1200" b="1" dirty="0">
                <a:latin typeface="Calibri"/>
                <a:ea typeface="+mn-lt"/>
                <a:cs typeface="+mn-lt"/>
              </a:rPr>
              <a:t>.</a:t>
            </a:r>
            <a:endParaRPr lang="en-IN" sz="1200" b="1" dirty="0">
              <a:latin typeface="Calibri"/>
              <a:cs typeface="Calibri"/>
            </a:endParaRPr>
          </a:p>
          <a:p>
            <a:pPr marL="305435" indent="-305435"/>
            <a:r>
              <a:rPr lang="en-IN" sz="1200" b="1" dirty="0">
                <a:latin typeface="Calibri"/>
                <a:ea typeface="+mn-lt"/>
                <a:cs typeface="+mn-lt"/>
              </a:rPr>
              <a:t>Deployment:</a:t>
            </a:r>
            <a:endParaRPr lang="en-IN" sz="1200" b="1" dirty="0">
              <a:latin typeface="Calibri"/>
              <a:cs typeface="Calibri"/>
            </a:endParaRPr>
          </a:p>
          <a:p>
            <a:pPr marL="629920" lvl="1" indent="-305435"/>
            <a:r>
              <a:rPr lang="en-IN" sz="1200" b="1" dirty="0">
                <a:latin typeface="Calibri"/>
                <a:cs typeface="Calibri"/>
              </a:rPr>
              <a:t>The algorithm giving the highest accuracy is chosen for this.</a:t>
            </a:r>
          </a:p>
          <a:p>
            <a:pPr marL="629920" lvl="1" indent="-305435"/>
            <a:r>
              <a:rPr lang="en-IN" sz="1200" b="1" dirty="0">
                <a:latin typeface="Calibri"/>
                <a:cs typeface="Calibri"/>
              </a:rPr>
              <a:t>In other words, the best performing model is chosen.</a:t>
            </a:r>
          </a:p>
          <a:p>
            <a:pPr marL="305435" indent="-305435"/>
            <a:r>
              <a:rPr lang="en-IN" sz="1200" b="1" dirty="0">
                <a:latin typeface="Calibri"/>
                <a:ea typeface="+mn-lt"/>
                <a:cs typeface="+mn-lt"/>
              </a:rPr>
              <a:t>Evaluation:</a:t>
            </a:r>
            <a:endParaRPr lang="en-IN" sz="1200" b="1" dirty="0">
              <a:latin typeface="Calibri"/>
              <a:cs typeface="Calibri"/>
            </a:endParaRPr>
          </a:p>
          <a:p>
            <a:pPr marL="629920" lvl="1" indent="-305435"/>
            <a:r>
              <a:rPr lang="en-IN" sz="1200" b="1" dirty="0">
                <a:latin typeface="Calibri"/>
                <a:ea typeface="+mn-lt"/>
                <a:cs typeface="+mn-lt"/>
              </a:rPr>
              <a:t>Assess the model's performance using appropriate metrics such as Confusion Matrix, Accuracy Score, ROC Curve and AUC and Cross-Validation.</a:t>
            </a:r>
          </a:p>
          <a:p>
            <a:pPr marL="629920" lvl="1" indent="-305435"/>
            <a:r>
              <a:rPr lang="en-IN" sz="1200" b="1" dirty="0">
                <a:latin typeface="Calibri"/>
                <a:ea typeface="+mn-lt"/>
                <a:cs typeface="+mn-lt"/>
              </a:rPr>
              <a:t>They provide insights into how well the models can distinguish between defaulters and non-defaulters and help in selecting the best-performing model for deployment.</a:t>
            </a:r>
          </a:p>
          <a:p>
            <a:pPr marL="629920" lvl="1" indent="-305435"/>
            <a:r>
              <a:rPr lang="en-IN" sz="1200" dirty="0">
                <a:ea typeface="+mn-lt"/>
                <a:cs typeface="+mn-lt"/>
              </a:rPr>
              <a:t>Result:  </a:t>
            </a:r>
            <a:r>
              <a:rPr lang="en-IN" sz="1200" dirty="0" err="1">
                <a:ea typeface="+mn-lt"/>
                <a:cs typeface="+mn-lt"/>
              </a:rPr>
              <a:t>XGBoost</a:t>
            </a:r>
            <a:r>
              <a:rPr lang="en-IN" sz="1200" dirty="0">
                <a:ea typeface="+mn-lt"/>
                <a:cs typeface="+mn-lt"/>
              </a:rPr>
              <a:t> has a most accuracy of 0.82.</a:t>
            </a:r>
            <a:endParaRPr lang="en-IN" sz="1200" dirty="0"/>
          </a:p>
          <a:p>
            <a:pPr marL="0" indent="0">
              <a:buNone/>
            </a:pPr>
            <a:endParaRPr lang="en-IN" dirty="0"/>
          </a:p>
        </p:txBody>
      </p:sp>
    </p:spTree>
    <p:extLst>
      <p:ext uri="{BB962C8B-B14F-4D97-AF65-F5344CB8AC3E}">
        <p14:creationId xmlns:p14="http://schemas.microsoft.com/office/powerpoint/2010/main" val="32103584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a:xfrm>
            <a:off x="581192" y="662572"/>
            <a:ext cx="11029616" cy="530296"/>
          </a:xfrm>
        </p:spPr>
        <p:txBody>
          <a:bodyPr>
            <a:normAutofit fontScale="90000"/>
          </a:bodyPr>
          <a:lstStyle/>
          <a:p>
            <a:r>
              <a:rPr lang="en-US" sz="4400" b="1">
                <a:solidFill>
                  <a:schemeClr val="accent1"/>
                </a:solidFill>
                <a:latin typeface="Arial"/>
                <a:ea typeface="+mj-lt"/>
                <a:cs typeface="Arial"/>
              </a:rPr>
              <a:t>System  Approach</a:t>
            </a:r>
            <a:endParaRPr lang="en-US" sz="4400">
              <a:solidFill>
                <a:schemeClr val="accent1"/>
              </a:solidFill>
              <a:latin typeface="Calibri Light"/>
              <a:cs typeface="Calibri Light"/>
            </a:endParaRPr>
          </a:p>
        </p:txBody>
      </p:sp>
      <p:sp>
        <p:nvSpPr>
          <p:cNvPr id="2" name="Content Placeholder 1">
            <a:extLst>
              <a:ext uri="{FF2B5EF4-FFF2-40B4-BE49-F238E27FC236}">
                <a16:creationId xmlns:a16="http://schemas.microsoft.com/office/drawing/2014/main" id="{C4FFAF3C-BA60-9181-132C-C36C403AAEA7}"/>
              </a:ext>
            </a:extLst>
          </p:cNvPr>
          <p:cNvSpPr>
            <a:spLocks noGrp="1"/>
          </p:cNvSpPr>
          <p:nvPr>
            <p:ph idx="1"/>
          </p:nvPr>
        </p:nvSpPr>
        <p:spPr/>
        <p:txBody>
          <a:bodyPr/>
          <a:lstStyle/>
          <a:p>
            <a:pPr marL="0" indent="0">
              <a:buNone/>
            </a:pPr>
            <a:r>
              <a:rPr lang="en-IN" sz="1800" b="1" dirty="0">
                <a:solidFill>
                  <a:srgbClr val="0F0F0F"/>
                </a:solidFill>
                <a:ea typeface="+mn-lt"/>
                <a:cs typeface="+mn-lt"/>
              </a:rPr>
              <a:t>The "System Approach" section outlines the overall strategy and methodology for developing and implementing on the credit card defaults prediction system. Here's a suggested structure for this section:</a:t>
            </a:r>
            <a:endParaRPr lang="en-US" dirty="0"/>
          </a:p>
          <a:p>
            <a:pPr marL="305435" indent="-305435"/>
            <a:r>
              <a:rPr lang="en-IN" sz="1800" b="1" dirty="0">
                <a:solidFill>
                  <a:srgbClr val="0F0F0F"/>
                </a:solidFill>
              </a:rPr>
              <a:t>System requirements</a:t>
            </a:r>
          </a:p>
          <a:p>
            <a:pPr marL="305435" indent="-305435"/>
            <a:r>
              <a:rPr lang="en-IN" sz="1800" b="1" dirty="0">
                <a:solidFill>
                  <a:srgbClr val="0F0F0F"/>
                </a:solidFill>
              </a:rPr>
              <a:t>Library required to build the model</a:t>
            </a:r>
          </a:p>
        </p:txBody>
      </p:sp>
    </p:spTree>
    <p:extLst>
      <p:ext uri="{BB962C8B-B14F-4D97-AF65-F5344CB8AC3E}">
        <p14:creationId xmlns:p14="http://schemas.microsoft.com/office/powerpoint/2010/main" val="32020245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2E2CA0-E81D-A9DE-FA14-E675CC36B467}"/>
              </a:ext>
            </a:extLst>
          </p:cNvPr>
          <p:cNvSpPr>
            <a:spLocks noGrp="1"/>
          </p:cNvSpPr>
          <p:nvPr>
            <p:ph type="title"/>
          </p:nvPr>
        </p:nvSpPr>
        <p:spPr/>
        <p:txBody>
          <a:bodyPr/>
          <a:lstStyle/>
          <a:p>
            <a:r>
              <a:rPr lang="en-US" dirty="0"/>
              <a:t>System requirements</a:t>
            </a:r>
          </a:p>
        </p:txBody>
      </p:sp>
      <p:sp>
        <p:nvSpPr>
          <p:cNvPr id="3" name="Content Placeholder 2">
            <a:extLst>
              <a:ext uri="{FF2B5EF4-FFF2-40B4-BE49-F238E27FC236}">
                <a16:creationId xmlns:a16="http://schemas.microsoft.com/office/drawing/2014/main" id="{C70A7393-DF50-1547-021C-664B78BB9E84}"/>
              </a:ext>
            </a:extLst>
          </p:cNvPr>
          <p:cNvSpPr>
            <a:spLocks noGrp="1"/>
          </p:cNvSpPr>
          <p:nvPr>
            <p:ph idx="1"/>
          </p:nvPr>
        </p:nvSpPr>
        <p:spPr/>
        <p:txBody>
          <a:bodyPr/>
          <a:lstStyle/>
          <a:p>
            <a:r>
              <a:rPr lang="en-US" dirty="0"/>
              <a:t>Hardware:</a:t>
            </a:r>
          </a:p>
          <a:p>
            <a:pPr lvl="1"/>
            <a:r>
              <a:rPr lang="en-US" dirty="0"/>
              <a:t>Processor: intel core i5 or higher.</a:t>
            </a:r>
          </a:p>
          <a:p>
            <a:pPr lvl="1"/>
            <a:r>
              <a:rPr lang="en-US" dirty="0"/>
              <a:t>RAM: 8 GB or higher.</a:t>
            </a:r>
          </a:p>
          <a:p>
            <a:pPr lvl="1"/>
            <a:r>
              <a:rPr lang="en-US" dirty="0"/>
              <a:t>Storage: 256 GB or higher (SSD). </a:t>
            </a:r>
          </a:p>
          <a:p>
            <a:r>
              <a:rPr lang="en-US" dirty="0"/>
              <a:t>Software:</a:t>
            </a:r>
          </a:p>
          <a:p>
            <a:pPr lvl="1"/>
            <a:r>
              <a:rPr lang="en-US" dirty="0"/>
              <a:t>Operating System: Windows 10, macOS or Linux.</a:t>
            </a:r>
          </a:p>
          <a:p>
            <a:pPr lvl="1"/>
            <a:r>
              <a:rPr lang="en-US" dirty="0"/>
              <a:t>Python: Version 3.6 or higher.</a:t>
            </a:r>
          </a:p>
          <a:p>
            <a:pPr lvl="1"/>
            <a:r>
              <a:rPr lang="en-US" dirty="0"/>
              <a:t>Integrated Development Environment (IDE): </a:t>
            </a:r>
            <a:r>
              <a:rPr lang="en-US" dirty="0" err="1"/>
              <a:t>Jupyter</a:t>
            </a:r>
            <a:r>
              <a:rPr lang="en-US" dirty="0"/>
              <a:t> Notebook, PyCharm, or any preferred Python IDE.</a:t>
            </a:r>
          </a:p>
        </p:txBody>
      </p:sp>
    </p:spTree>
    <p:extLst>
      <p:ext uri="{BB962C8B-B14F-4D97-AF65-F5344CB8AC3E}">
        <p14:creationId xmlns:p14="http://schemas.microsoft.com/office/powerpoint/2010/main" val="25139374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579234-CDC5-D445-E642-328813DDF575}"/>
              </a:ext>
            </a:extLst>
          </p:cNvPr>
          <p:cNvSpPr>
            <a:spLocks noGrp="1"/>
          </p:cNvSpPr>
          <p:nvPr>
            <p:ph type="title"/>
          </p:nvPr>
        </p:nvSpPr>
        <p:spPr/>
        <p:txBody>
          <a:bodyPr/>
          <a:lstStyle/>
          <a:p>
            <a:r>
              <a:rPr lang="en-US" dirty="0"/>
              <a:t>Library(s) required to built the model</a:t>
            </a:r>
          </a:p>
        </p:txBody>
      </p:sp>
      <p:sp>
        <p:nvSpPr>
          <p:cNvPr id="3" name="Content Placeholder 2">
            <a:extLst>
              <a:ext uri="{FF2B5EF4-FFF2-40B4-BE49-F238E27FC236}">
                <a16:creationId xmlns:a16="http://schemas.microsoft.com/office/drawing/2014/main" id="{FFB64EA2-B275-4101-F897-A9F58A12CECA}"/>
              </a:ext>
            </a:extLst>
          </p:cNvPr>
          <p:cNvSpPr>
            <a:spLocks noGrp="1"/>
          </p:cNvSpPr>
          <p:nvPr>
            <p:ph idx="1"/>
          </p:nvPr>
        </p:nvSpPr>
        <p:spPr/>
        <p:txBody>
          <a:bodyPr/>
          <a:lstStyle/>
          <a:p>
            <a:r>
              <a:rPr lang="en-US" dirty="0"/>
              <a:t>NumPy</a:t>
            </a:r>
          </a:p>
          <a:p>
            <a:r>
              <a:rPr lang="en-US" dirty="0"/>
              <a:t>Pandas</a:t>
            </a:r>
          </a:p>
          <a:p>
            <a:r>
              <a:rPr lang="en-US" dirty="0"/>
              <a:t>Matplotlib and Seaborn</a:t>
            </a:r>
          </a:p>
          <a:p>
            <a:r>
              <a:rPr lang="en-US" dirty="0"/>
              <a:t>Scikit-learn</a:t>
            </a:r>
          </a:p>
          <a:p>
            <a:r>
              <a:rPr lang="en-US" dirty="0" err="1"/>
              <a:t>XGBoost</a:t>
            </a:r>
            <a:endParaRPr lang="en-US" dirty="0"/>
          </a:p>
          <a:p>
            <a:r>
              <a:rPr lang="en-US" dirty="0" err="1"/>
              <a:t>LightGBM</a:t>
            </a:r>
            <a:endParaRPr lang="en-US" dirty="0"/>
          </a:p>
          <a:p>
            <a:r>
              <a:rPr lang="en-US" dirty="0"/>
              <a:t>Imbalanced-learn</a:t>
            </a:r>
          </a:p>
          <a:p>
            <a:r>
              <a:rPr lang="en-US" dirty="0" err="1"/>
              <a:t>Sklearn.preprocessing</a:t>
            </a:r>
            <a:endParaRPr lang="en-US" dirty="0"/>
          </a:p>
          <a:p>
            <a:r>
              <a:rPr lang="en-US" dirty="0" err="1"/>
              <a:t>Pandas.get_dummies</a:t>
            </a:r>
            <a:endParaRPr lang="en-US" dirty="0"/>
          </a:p>
          <a:p>
            <a:r>
              <a:rPr lang="en-US" dirty="0" err="1"/>
              <a:t>Sklearn.metrics</a:t>
            </a:r>
            <a:endParaRPr lang="en-US" dirty="0"/>
          </a:p>
          <a:p>
            <a:r>
              <a:rPr lang="en-US" dirty="0" err="1"/>
              <a:t>Sklearn.model_selection</a:t>
            </a:r>
            <a:endParaRPr lang="en-US" dirty="0"/>
          </a:p>
        </p:txBody>
      </p:sp>
    </p:spTree>
    <p:extLst>
      <p:ext uri="{BB962C8B-B14F-4D97-AF65-F5344CB8AC3E}">
        <p14:creationId xmlns:p14="http://schemas.microsoft.com/office/powerpoint/2010/main" val="26468701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Algorithm &amp; Deployment</a:t>
            </a:r>
            <a:endParaRPr lang="en-US"/>
          </a:p>
        </p:txBody>
      </p:sp>
      <p:sp>
        <p:nvSpPr>
          <p:cNvPr id="2" name="Content Placeholder 1">
            <a:extLst>
              <a:ext uri="{FF2B5EF4-FFF2-40B4-BE49-F238E27FC236}">
                <a16:creationId xmlns:a16="http://schemas.microsoft.com/office/drawing/2014/main" id="{F7F0871F-2198-9E37-C96F-3611AA199B60}"/>
              </a:ext>
            </a:extLst>
          </p:cNvPr>
          <p:cNvSpPr>
            <a:spLocks noGrp="1"/>
          </p:cNvSpPr>
          <p:nvPr>
            <p:ph idx="1"/>
          </p:nvPr>
        </p:nvSpPr>
        <p:spPr/>
        <p:txBody>
          <a:bodyPr>
            <a:normAutofit fontScale="92500" lnSpcReduction="10000"/>
          </a:bodyPr>
          <a:lstStyle/>
          <a:p>
            <a:pPr marL="305435" indent="-305435"/>
            <a:r>
              <a:rPr lang="en-IN" sz="1400" dirty="0">
                <a:ea typeface="+mn-lt"/>
                <a:cs typeface="+mn-lt"/>
              </a:rPr>
              <a:t>In the Algorithm section, describe the machine learning algorithm chosen for predicting bike counts. Here's an example structure for this section:</a:t>
            </a:r>
            <a:endParaRPr lang="en-IN" sz="1400" dirty="0"/>
          </a:p>
          <a:p>
            <a:pPr marL="305435" indent="-305435"/>
            <a:r>
              <a:rPr lang="en-IN" sz="1400" b="1" dirty="0">
                <a:ea typeface="+mn-lt"/>
                <a:cs typeface="+mn-lt"/>
              </a:rPr>
              <a:t>Algorithm Selection:</a:t>
            </a:r>
            <a:endParaRPr lang="en-IN" sz="1400" dirty="0"/>
          </a:p>
          <a:p>
            <a:pPr marL="629920" lvl="1" indent="-305435"/>
            <a:r>
              <a:rPr lang="en-IN" dirty="0"/>
              <a:t>The algorithms considered were Logistic Regression which is used for binary classification tasks and as it has abilities to handle both numerical and categorical features.</a:t>
            </a:r>
          </a:p>
          <a:p>
            <a:pPr marL="629920" lvl="1" indent="-305435"/>
            <a:r>
              <a:rPr lang="en-IN" dirty="0"/>
              <a:t>Then Decision Trees and Random Forest also have the ability to handle both numerical and categorical data by making tree like models and help make predictions.</a:t>
            </a:r>
          </a:p>
          <a:p>
            <a:pPr marL="629920" lvl="1" indent="-305435"/>
            <a:r>
              <a:rPr lang="en-IN" dirty="0" err="1"/>
              <a:t>XGBoost</a:t>
            </a:r>
            <a:r>
              <a:rPr lang="en-IN" dirty="0"/>
              <a:t> is also used as it has the ability to handle imbalanced datasets.</a:t>
            </a:r>
          </a:p>
          <a:p>
            <a:pPr marL="305435" indent="-305435"/>
            <a:r>
              <a:rPr lang="en-IN" sz="1400" b="1" dirty="0">
                <a:ea typeface="+mn-lt"/>
                <a:cs typeface="+mn-lt"/>
              </a:rPr>
              <a:t>Data Input:</a:t>
            </a:r>
            <a:endParaRPr lang="en-IN" sz="1400" dirty="0"/>
          </a:p>
          <a:p>
            <a:pPr marL="629920" lvl="1" indent="-305435"/>
            <a:r>
              <a:rPr lang="en-IN" dirty="0"/>
              <a:t>Age, gender, education level, marital status, income, credit limit, payment history, outstanding balance, payment status, past due amounts, transaction patterns and number of dependents.</a:t>
            </a:r>
          </a:p>
          <a:p>
            <a:pPr marL="305435" indent="-305435"/>
            <a:r>
              <a:rPr lang="en-IN" sz="1400" b="1" dirty="0">
                <a:ea typeface="+mn-lt"/>
                <a:cs typeface="+mn-lt"/>
              </a:rPr>
              <a:t>Training Process:</a:t>
            </a:r>
            <a:endParaRPr lang="en-IN" sz="1400" dirty="0"/>
          </a:p>
          <a:p>
            <a:pPr marL="629920" lvl="1" indent="-305435"/>
            <a:r>
              <a:rPr lang="en-IN" dirty="0">
                <a:ea typeface="+mn-lt"/>
                <a:cs typeface="+mn-lt"/>
              </a:rPr>
              <a:t>Data preprocessing (handling missing values), model training (fitting the selected algorithm and using techniques likes random search with cross-validation), and model evaluation (evaluation the trained model’s performance on the testing set using accuracy, precision, and confusion matrix).</a:t>
            </a:r>
            <a:endParaRPr lang="en-IN" dirty="0"/>
          </a:p>
          <a:p>
            <a:pPr marL="305435" indent="-305435"/>
            <a:r>
              <a:rPr lang="en-IN" sz="1400" b="1" dirty="0">
                <a:ea typeface="+mn-lt"/>
                <a:cs typeface="+mn-lt"/>
              </a:rPr>
              <a:t>Prediction Process:</a:t>
            </a:r>
            <a:endParaRPr lang="en-IN" sz="1400" dirty="0"/>
          </a:p>
          <a:p>
            <a:pPr marL="629435" lvl="1" indent="-305435"/>
            <a:r>
              <a:rPr lang="en-IN" dirty="0"/>
              <a:t>Predictions on the new credit card data can be made once this model is trained and validated.</a:t>
            </a:r>
          </a:p>
          <a:p>
            <a:pPr marL="629435" lvl="1" indent="-305435"/>
            <a:r>
              <a:rPr lang="en-IN" dirty="0"/>
              <a:t>Same procedure for the data preprocessing needs to be done on the new data that needs to be input data into the trained model getting the probabilities for the new set as well.</a:t>
            </a:r>
          </a:p>
        </p:txBody>
      </p:sp>
    </p:spTree>
    <p:extLst>
      <p:ext uri="{BB962C8B-B14F-4D97-AF65-F5344CB8AC3E}">
        <p14:creationId xmlns:p14="http://schemas.microsoft.com/office/powerpoint/2010/main" val="41545087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Result</a:t>
            </a:r>
            <a:endParaRPr lang="en-US"/>
          </a:p>
        </p:txBody>
      </p:sp>
      <p:sp>
        <p:nvSpPr>
          <p:cNvPr id="2" name="Content Placeholder 1">
            <a:extLst>
              <a:ext uri="{FF2B5EF4-FFF2-40B4-BE49-F238E27FC236}">
                <a16:creationId xmlns:a16="http://schemas.microsoft.com/office/drawing/2014/main" id="{D3304455-6802-6CA9-8475-2F6DD1B8D409}"/>
              </a:ext>
            </a:extLst>
          </p:cNvPr>
          <p:cNvSpPr>
            <a:spLocks noGrp="1"/>
          </p:cNvSpPr>
          <p:nvPr>
            <p:ph idx="1"/>
          </p:nvPr>
        </p:nvSpPr>
        <p:spPr>
          <a:xfrm>
            <a:off x="515184" y="467837"/>
            <a:ext cx="11029615" cy="4673324"/>
          </a:xfrm>
        </p:spPr>
        <p:txBody>
          <a:bodyPr>
            <a:normAutofit/>
          </a:bodyPr>
          <a:lstStyle/>
          <a:p>
            <a:pPr marL="0" indent="0">
              <a:buNone/>
            </a:pPr>
            <a:r>
              <a:rPr lang="en-IN" sz="2400" dirty="0"/>
              <a:t>I have trained and evaluated many machine learning models for the credit card default predictions. The models were trained on a dataset which was pre-processed and split into training and testing sets. Various evaluation metrics are used to check the performance of the models. The best performing model was </a:t>
            </a:r>
            <a:r>
              <a:rPr lang="en-IN" sz="2400" dirty="0" err="1"/>
              <a:t>XGBoost</a:t>
            </a:r>
            <a:r>
              <a:rPr lang="en-IN" sz="2400" dirty="0"/>
              <a:t>, which achieved an accuracy of 0.82 and a precision of 0.67288 with </a:t>
            </a:r>
            <a:r>
              <a:rPr lang="en-IN" sz="2400" dirty="0" err="1"/>
              <a:t>SMOTETomek</a:t>
            </a:r>
            <a:r>
              <a:rPr lang="en-IN" sz="2400" dirty="0"/>
              <a:t>.</a:t>
            </a:r>
          </a:p>
          <a:p>
            <a:pPr marL="0" indent="0">
              <a:buNone/>
            </a:pPr>
            <a:endParaRPr lang="en-IN" sz="2400" dirty="0"/>
          </a:p>
        </p:txBody>
      </p:sp>
      <p:pic>
        <p:nvPicPr>
          <p:cNvPr id="1028" name="Picture 4">
            <a:extLst>
              <a:ext uri="{FF2B5EF4-FFF2-40B4-BE49-F238E27FC236}">
                <a16:creationId xmlns:a16="http://schemas.microsoft.com/office/drawing/2014/main" id="{6D89C5EB-A050-633A-010C-DDD8E9B0B5C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768" t="28538" r="3684" b="34269"/>
          <a:stretch/>
        </p:blipFill>
        <p:spPr bwMode="auto">
          <a:xfrm>
            <a:off x="449176" y="3682243"/>
            <a:ext cx="11161629" cy="25506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32933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718EDD-18F5-447E-1835-037F47CDE7A0}"/>
              </a:ext>
            </a:extLst>
          </p:cNvPr>
          <p:cNvSpPr>
            <a:spLocks noGrp="1"/>
          </p:cNvSpPr>
          <p:nvPr>
            <p:ph type="title"/>
          </p:nvPr>
        </p:nvSpPr>
        <p:spPr/>
        <p:txBody>
          <a:bodyPr/>
          <a:lstStyle/>
          <a:p>
            <a:r>
              <a:rPr lang="en-US" dirty="0"/>
              <a:t>… continuation</a:t>
            </a:r>
          </a:p>
        </p:txBody>
      </p:sp>
      <p:sp>
        <p:nvSpPr>
          <p:cNvPr id="3" name="Content Placeholder 2">
            <a:extLst>
              <a:ext uri="{FF2B5EF4-FFF2-40B4-BE49-F238E27FC236}">
                <a16:creationId xmlns:a16="http://schemas.microsoft.com/office/drawing/2014/main" id="{EB95CA03-11CB-78C1-0365-0416164A04E7}"/>
              </a:ext>
            </a:extLst>
          </p:cNvPr>
          <p:cNvSpPr>
            <a:spLocks noGrp="1"/>
          </p:cNvSpPr>
          <p:nvPr>
            <p:ph idx="1"/>
          </p:nvPr>
        </p:nvSpPr>
        <p:spPr/>
        <p:txBody>
          <a:bodyPr/>
          <a:lstStyle/>
          <a:p>
            <a:pPr marL="0" indent="0">
              <a:buNone/>
            </a:pPr>
            <a:r>
              <a:rPr lang="en-US" dirty="0"/>
              <a:t>this is the AUC and ROC Curve which indicates it is 0.85 </a:t>
            </a:r>
          </a:p>
          <a:p>
            <a:pPr marL="0" indent="0">
              <a:buNone/>
            </a:pPr>
            <a:r>
              <a:rPr lang="en-US" dirty="0"/>
              <a:t>and the model has a strong ability to discriminate </a:t>
            </a:r>
          </a:p>
          <a:p>
            <a:pPr marL="0" indent="0">
              <a:buNone/>
            </a:pPr>
            <a:r>
              <a:rPr lang="en-US" dirty="0"/>
              <a:t>between defaulters and non-defaulters.</a:t>
            </a:r>
          </a:p>
        </p:txBody>
      </p:sp>
      <p:pic>
        <p:nvPicPr>
          <p:cNvPr id="2052" name="Picture 4">
            <a:extLst>
              <a:ext uri="{FF2B5EF4-FFF2-40B4-BE49-F238E27FC236}">
                <a16:creationId xmlns:a16="http://schemas.microsoft.com/office/drawing/2014/main" id="{D64144D5-F7EF-AEAD-DE01-88D21A0C0E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63985" y="1124006"/>
            <a:ext cx="5646822" cy="44319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49021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464E47-FD70-AC10-4F5C-B5F1651E1E87}"/>
              </a:ext>
            </a:extLst>
          </p:cNvPr>
          <p:cNvSpPr>
            <a:spLocks noGrp="1"/>
          </p:cNvSpPr>
          <p:nvPr>
            <p:ph type="title"/>
          </p:nvPr>
        </p:nvSpPr>
        <p:spPr/>
        <p:txBody>
          <a:bodyPr/>
          <a:lstStyle/>
          <a:p>
            <a:r>
              <a:rPr lang="en-US" dirty="0"/>
              <a:t>… continuation</a:t>
            </a:r>
          </a:p>
        </p:txBody>
      </p:sp>
      <p:sp>
        <p:nvSpPr>
          <p:cNvPr id="5" name="Content Placeholder 4">
            <a:extLst>
              <a:ext uri="{FF2B5EF4-FFF2-40B4-BE49-F238E27FC236}">
                <a16:creationId xmlns:a16="http://schemas.microsoft.com/office/drawing/2014/main" id="{5BFA237D-D0DE-01C5-7F29-0D0BF50DE3B7}"/>
              </a:ext>
            </a:extLst>
          </p:cNvPr>
          <p:cNvSpPr>
            <a:spLocks noGrp="1"/>
          </p:cNvSpPr>
          <p:nvPr>
            <p:ph idx="1"/>
          </p:nvPr>
        </p:nvSpPr>
        <p:spPr/>
        <p:txBody>
          <a:bodyPr>
            <a:normAutofit/>
          </a:bodyPr>
          <a:lstStyle/>
          <a:p>
            <a:pPr marL="0" indent="0">
              <a:buNone/>
            </a:pPr>
            <a:r>
              <a:rPr lang="en-US" sz="2500" dirty="0"/>
              <a:t>The table shown on the slide 9, highlights that </a:t>
            </a:r>
            <a:r>
              <a:rPr lang="en-US" sz="2500" dirty="0" err="1"/>
              <a:t>XGBoost</a:t>
            </a:r>
            <a:r>
              <a:rPr lang="en-US" sz="2500" dirty="0"/>
              <a:t> outperforms Logistic Regression and Random Forest in terms of accuracy, precision, and AUC, making it the preferred choice for this model. However, it is only effective when done with </a:t>
            </a:r>
            <a:r>
              <a:rPr lang="en-IN" sz="2800" dirty="0" err="1"/>
              <a:t>SMOTETomek</a:t>
            </a:r>
            <a:r>
              <a:rPr lang="en-US" sz="2500" dirty="0"/>
              <a:t> which has a very low recall value.</a:t>
            </a:r>
          </a:p>
        </p:txBody>
      </p:sp>
    </p:spTree>
    <p:extLst>
      <p:ext uri="{BB962C8B-B14F-4D97-AF65-F5344CB8AC3E}">
        <p14:creationId xmlns:p14="http://schemas.microsoft.com/office/powerpoint/2010/main" val="40132978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Conclusion</a:t>
            </a:r>
            <a:endParaRPr lang="en-US"/>
          </a:p>
        </p:txBody>
      </p:sp>
      <p:sp>
        <p:nvSpPr>
          <p:cNvPr id="2" name="Content Placeholder 1">
            <a:extLst>
              <a:ext uri="{FF2B5EF4-FFF2-40B4-BE49-F238E27FC236}">
                <a16:creationId xmlns:a16="http://schemas.microsoft.com/office/drawing/2014/main" id="{005E46AB-32C4-4B57-A2B1-50738A64BE1B}"/>
              </a:ext>
            </a:extLst>
          </p:cNvPr>
          <p:cNvSpPr>
            <a:spLocks noGrp="1"/>
          </p:cNvSpPr>
          <p:nvPr>
            <p:ph idx="1"/>
          </p:nvPr>
        </p:nvSpPr>
        <p:spPr/>
        <p:txBody>
          <a:bodyPr>
            <a:normAutofit/>
          </a:bodyPr>
          <a:lstStyle/>
          <a:p>
            <a:pPr marL="0" indent="0">
              <a:buNone/>
            </a:pPr>
            <a:r>
              <a:rPr lang="en-IN" sz="2000" dirty="0"/>
              <a:t>In conclusion, this project aims to develop a machine learning model for credit card default prediction and after exploring various algorithms, I have found that the </a:t>
            </a:r>
            <a:r>
              <a:rPr lang="en-IN" sz="2000" dirty="0" err="1"/>
              <a:t>XGBoost</a:t>
            </a:r>
            <a:r>
              <a:rPr lang="en-IN" sz="2000" dirty="0"/>
              <a:t> model demonstrates the best performance in predicting the defaults. The model’s AUC of 0.85 further highlights how it distinguishes between the defaulters and non-defaulters. The least accurate method was </a:t>
            </a:r>
            <a:r>
              <a:rPr lang="en-IN" sz="2000" dirty="0" err="1"/>
              <a:t>XGBoost</a:t>
            </a:r>
            <a:r>
              <a:rPr lang="en-IN" sz="2000" dirty="0"/>
              <a:t> with Imbalanced Data and Logistic Regression. However, the </a:t>
            </a:r>
            <a:r>
              <a:rPr lang="en-IN" sz="2000" dirty="0" err="1"/>
              <a:t>XGBoost</a:t>
            </a:r>
            <a:r>
              <a:rPr lang="en-IN" sz="2000" dirty="0"/>
              <a:t> with Imbalanced Data gives the best recall of 0.635359. The higher recall can be achieved if low precision is acceptable. It can also be said that keeping in mind about the recall, Random Forest Classifier can provide us the best results as </a:t>
            </a:r>
            <a:r>
              <a:rPr lang="en-IN" sz="2000" dirty="0" err="1"/>
              <a:t>XGBoost</a:t>
            </a:r>
            <a:r>
              <a:rPr lang="en-IN" sz="2000" dirty="0"/>
              <a:t> with </a:t>
            </a:r>
            <a:r>
              <a:rPr lang="en-IN" sz="2000" dirty="0" err="1"/>
              <a:t>SMOTETomek</a:t>
            </a:r>
            <a:r>
              <a:rPr lang="en-IN" sz="2000" dirty="0"/>
              <a:t> lacks recall which is crucial in classifying the defaulters.</a:t>
            </a:r>
          </a:p>
        </p:txBody>
      </p:sp>
    </p:spTree>
    <p:extLst>
      <p:ext uri="{BB962C8B-B14F-4D97-AF65-F5344CB8AC3E}">
        <p14:creationId xmlns:p14="http://schemas.microsoft.com/office/powerpoint/2010/main" val="31833151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638FD1-D00E-E75B-705C-564F06D93D7B}"/>
              </a:ext>
            </a:extLst>
          </p:cNvPr>
          <p:cNvSpPr>
            <a:spLocks noGrp="1"/>
          </p:cNvSpPr>
          <p:nvPr>
            <p:ph idx="1"/>
          </p:nvPr>
        </p:nvSpPr>
        <p:spPr/>
        <p:txBody>
          <a:bodyPr/>
          <a:lstStyle/>
          <a:p>
            <a:pPr marL="0" indent="0">
              <a:buNone/>
            </a:pPr>
            <a:endParaRPr lang="en-US" sz="2000" b="1" dirty="0"/>
          </a:p>
          <a:p>
            <a:pPr marL="0" indent="0">
              <a:buNone/>
            </a:pPr>
            <a:r>
              <a:rPr lang="en-US" sz="2000" dirty="0">
                <a:ea typeface="+mn-lt"/>
                <a:cs typeface="+mn-lt"/>
              </a:rPr>
              <a:t>The future scope of credit card default prediction using learning is quite promising and offers various avenues for further research and development. More advance machine learning techniques can be used like deep learning models which could potentially improve the predictive performance. Additionally, more sources for data can be used like credit bureau data, social media data or even macroeconomic indicators as well. This would give more comprehensive view on the customer’s creditworthiness. The further changes I can do to improve the entire model is to implement the streaming data processing and online learning algorithms could allow the model to adapt to changing customer behaviors and market conditions in near real-time. Furthermore, to increase the transparency and trust in the decision-making process techniques like feature importance analysis, methods like LIME, SHAP can be used. </a:t>
            </a:r>
            <a:endParaRPr lang="en-US" dirty="0"/>
          </a:p>
        </p:txBody>
      </p:sp>
      <p:sp>
        <p:nvSpPr>
          <p:cNvPr id="5" name="Title 4">
            <a:extLst>
              <a:ext uri="{FF2B5EF4-FFF2-40B4-BE49-F238E27FC236}">
                <a16:creationId xmlns:a16="http://schemas.microsoft.com/office/drawing/2014/main" id="{3F968F13-9AC4-7120-7ACD-9F752C767D5D}"/>
              </a:ext>
            </a:extLst>
          </p:cNvPr>
          <p:cNvSpPr txBox="1">
            <a:spLocks/>
          </p:cNvSpPr>
          <p:nvPr/>
        </p:nvSpPr>
        <p:spPr>
          <a:xfrm>
            <a:off x="535670" y="844659"/>
            <a:ext cx="11029616" cy="530296"/>
          </a:xfrm>
          <a:prstGeom prst="rect">
            <a:avLst/>
          </a:prstGeom>
        </p:spPr>
        <p:txBody>
          <a:bodyPr vert="horz" lIns="91440" tIns="45720" rIns="91440" bIns="45720" rtlCol="0" anchor="b">
            <a:normAutofit fontScale="75000" lnSpcReduction="200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400" b="1" dirty="0">
                <a:solidFill>
                  <a:schemeClr val="accent1"/>
                </a:solidFill>
                <a:latin typeface="Arial"/>
                <a:cs typeface="Arial"/>
              </a:rPr>
              <a:t>Future scope</a:t>
            </a:r>
          </a:p>
        </p:txBody>
      </p:sp>
    </p:spTree>
    <p:extLst>
      <p:ext uri="{BB962C8B-B14F-4D97-AF65-F5344CB8AC3E}">
        <p14:creationId xmlns:p14="http://schemas.microsoft.com/office/powerpoint/2010/main" val="6148826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References</a:t>
            </a:r>
            <a:endParaRPr lang="en-US"/>
          </a:p>
        </p:txBody>
      </p:sp>
      <p:sp>
        <p:nvSpPr>
          <p:cNvPr id="2" name="Content Placeholder 1">
            <a:extLst>
              <a:ext uri="{FF2B5EF4-FFF2-40B4-BE49-F238E27FC236}">
                <a16:creationId xmlns:a16="http://schemas.microsoft.com/office/drawing/2014/main" id="{357C38BC-22B3-37B2-E0C3-812020A76077}"/>
              </a:ext>
            </a:extLst>
          </p:cNvPr>
          <p:cNvSpPr>
            <a:spLocks noGrp="1"/>
          </p:cNvSpPr>
          <p:nvPr>
            <p:ph idx="1"/>
          </p:nvPr>
        </p:nvSpPr>
        <p:spPr>
          <a:xfrm>
            <a:off x="496131" y="1482520"/>
            <a:ext cx="11029615" cy="4673324"/>
          </a:xfrm>
        </p:spPr>
        <p:txBody>
          <a:bodyPr>
            <a:normAutofit fontScale="62500" lnSpcReduction="20000"/>
          </a:bodyPr>
          <a:lstStyle/>
          <a:p>
            <a:pPr marL="0" indent="0">
              <a:buNone/>
            </a:pPr>
            <a:r>
              <a:rPr lang="en-IN" sz="2400" dirty="0"/>
              <a:t>IEEE referencing is used:</a:t>
            </a:r>
          </a:p>
          <a:p>
            <a:pPr marL="0" indent="0" algn="l">
              <a:buNone/>
            </a:pPr>
            <a:r>
              <a:rPr lang="en-US" sz="2400" b="0" i="0" dirty="0">
                <a:solidFill>
                  <a:srgbClr val="000000"/>
                </a:solidFill>
                <a:effectLst/>
                <a:latin typeface="Calibri" panose="020F0502020204030204" pitchFamily="34" charset="0"/>
              </a:rPr>
              <a:t>“EDA and Logistic Regression,” </a:t>
            </a:r>
            <a:r>
              <a:rPr lang="en-US" sz="2400" b="0" i="1" dirty="0">
                <a:solidFill>
                  <a:srgbClr val="000000"/>
                </a:solidFill>
                <a:effectLst/>
                <a:latin typeface="Calibri" panose="020F0502020204030204" pitchFamily="34" charset="0"/>
              </a:rPr>
              <a:t>kaggle.com</a:t>
            </a:r>
            <a:r>
              <a:rPr lang="en-US" sz="2400" b="0" i="0" dirty="0">
                <a:solidFill>
                  <a:srgbClr val="000000"/>
                </a:solidFill>
                <a:effectLst/>
                <a:latin typeface="Calibri" panose="020F0502020204030204" pitchFamily="34" charset="0"/>
              </a:rPr>
              <a:t>. </a:t>
            </a:r>
            <a:r>
              <a:rPr lang="en-US" sz="2400" b="0" i="0" dirty="0">
                <a:solidFill>
                  <a:srgbClr val="000000"/>
                </a:solidFill>
                <a:effectLst/>
                <a:latin typeface="Calibri" panose="020F0502020204030204" pitchFamily="34" charset="0"/>
                <a:hlinkClick r:id="rId2"/>
              </a:rPr>
              <a:t>https://www.kaggle.com/code/fegadeharish/eda-and-logistic-regression/notebook</a:t>
            </a:r>
            <a:endParaRPr lang="en-US" sz="2400" dirty="0">
              <a:solidFill>
                <a:srgbClr val="000000"/>
              </a:solidFill>
              <a:latin typeface="Calibri" panose="020F0502020204030204" pitchFamily="34" charset="0"/>
            </a:endParaRPr>
          </a:p>
          <a:p>
            <a:pPr marL="0" marR="457200" indent="0" algn="l">
              <a:buNone/>
            </a:pPr>
            <a:r>
              <a:rPr lang="en-US" sz="2400" b="0" i="0" dirty="0" err="1">
                <a:solidFill>
                  <a:srgbClr val="000000"/>
                </a:solidFill>
                <a:effectLst/>
                <a:latin typeface="Calibri" panose="020F0502020204030204" pitchFamily="34" charset="0"/>
              </a:rPr>
              <a:t>anishjohnson</a:t>
            </a:r>
            <a:r>
              <a:rPr lang="en-US" sz="2400" b="0" i="0" dirty="0">
                <a:solidFill>
                  <a:srgbClr val="000000"/>
                </a:solidFill>
                <a:effectLst/>
                <a:latin typeface="Calibri" panose="020F0502020204030204" pitchFamily="34" charset="0"/>
              </a:rPr>
              <a:t>, “</a:t>
            </a:r>
            <a:r>
              <a:rPr lang="en-US" sz="2400" b="0" i="0" dirty="0" err="1">
                <a:solidFill>
                  <a:srgbClr val="000000"/>
                </a:solidFill>
                <a:effectLst/>
                <a:latin typeface="Calibri" panose="020F0502020204030204" pitchFamily="34" charset="0"/>
              </a:rPr>
              <a:t>Credit_Card_Default_Prediction</a:t>
            </a:r>
            <a:r>
              <a:rPr lang="en-US" sz="2400" b="0" i="0" dirty="0">
                <a:solidFill>
                  <a:srgbClr val="000000"/>
                </a:solidFill>
                <a:effectLst/>
                <a:latin typeface="Calibri" panose="020F0502020204030204" pitchFamily="34" charset="0"/>
              </a:rPr>
              <a:t>/</a:t>
            </a:r>
            <a:r>
              <a:rPr lang="en-US" sz="2400" b="0" i="0" dirty="0" err="1">
                <a:solidFill>
                  <a:srgbClr val="000000"/>
                </a:solidFill>
                <a:effectLst/>
                <a:latin typeface="Calibri" panose="020F0502020204030204" pitchFamily="34" charset="0"/>
              </a:rPr>
              <a:t>Credit_Card_Default_Prediction</a:t>
            </a:r>
            <a:r>
              <a:rPr lang="en-US" sz="2400" b="0" i="0" dirty="0">
                <a:solidFill>
                  <a:srgbClr val="000000"/>
                </a:solidFill>
                <a:effectLst/>
                <a:latin typeface="Calibri" panose="020F0502020204030204" pitchFamily="34" charset="0"/>
              </a:rPr>
              <a:t>- Anish Johnson-Presentation.pdf at main · </a:t>
            </a:r>
            <a:r>
              <a:rPr lang="en-US" sz="2400" b="0" i="0" dirty="0" err="1">
                <a:solidFill>
                  <a:srgbClr val="000000"/>
                </a:solidFill>
                <a:effectLst/>
                <a:latin typeface="Calibri" panose="020F0502020204030204" pitchFamily="34" charset="0"/>
              </a:rPr>
              <a:t>anishjohnson</a:t>
            </a:r>
            <a:r>
              <a:rPr lang="en-US" sz="2400" b="0" i="0" dirty="0">
                <a:solidFill>
                  <a:srgbClr val="000000"/>
                </a:solidFill>
                <a:effectLst/>
                <a:latin typeface="Calibri" panose="020F0502020204030204" pitchFamily="34" charset="0"/>
              </a:rPr>
              <a:t>/</a:t>
            </a:r>
            <a:r>
              <a:rPr lang="en-US" sz="2400" b="0" i="0" dirty="0" err="1">
                <a:solidFill>
                  <a:srgbClr val="000000"/>
                </a:solidFill>
                <a:effectLst/>
                <a:latin typeface="Calibri" panose="020F0502020204030204" pitchFamily="34" charset="0"/>
              </a:rPr>
              <a:t>Credit_Card_Default_Prediction</a:t>
            </a:r>
            <a:r>
              <a:rPr lang="en-US" sz="2400" b="0" i="0" dirty="0">
                <a:solidFill>
                  <a:srgbClr val="000000"/>
                </a:solidFill>
                <a:effectLst/>
                <a:latin typeface="Calibri" panose="020F0502020204030204" pitchFamily="34" charset="0"/>
              </a:rPr>
              <a:t>,” </a:t>
            </a:r>
            <a:r>
              <a:rPr lang="en-US" sz="2400" b="0" i="1" dirty="0">
                <a:solidFill>
                  <a:srgbClr val="000000"/>
                </a:solidFill>
                <a:effectLst/>
                <a:latin typeface="Calibri" panose="020F0502020204030204" pitchFamily="34" charset="0"/>
              </a:rPr>
              <a:t>GitHub</a:t>
            </a:r>
            <a:r>
              <a:rPr lang="en-US" sz="2400" b="0" i="0" dirty="0">
                <a:solidFill>
                  <a:srgbClr val="000000"/>
                </a:solidFill>
                <a:effectLst/>
                <a:latin typeface="Calibri" panose="020F0502020204030204" pitchFamily="34" charset="0"/>
              </a:rPr>
              <a:t>, 2022. </a:t>
            </a:r>
            <a:r>
              <a:rPr lang="en-US" sz="2400" b="0" i="0" dirty="0">
                <a:solidFill>
                  <a:srgbClr val="000000"/>
                </a:solidFill>
                <a:effectLst/>
                <a:latin typeface="Calibri" panose="020F0502020204030204" pitchFamily="34" charset="0"/>
                <a:hlinkClick r:id="rId3"/>
              </a:rPr>
              <a:t>https://github.com/anishjohnson/Credit_Card_Default_Prediction/blob/main/Credit_Card_Default_Prediction-%20Anish%20Johnson-Presentation.pdf</a:t>
            </a:r>
            <a:endParaRPr lang="en-US" sz="2400" b="0" i="0" dirty="0">
              <a:solidFill>
                <a:srgbClr val="000000"/>
              </a:solidFill>
              <a:effectLst/>
              <a:latin typeface="Calibri" panose="020F0502020204030204" pitchFamily="34" charset="0"/>
            </a:endParaRPr>
          </a:p>
          <a:p>
            <a:pPr marL="0" indent="0" algn="l">
              <a:buNone/>
            </a:pPr>
            <a:r>
              <a:rPr lang="en-US" sz="2400" b="0" i="0" dirty="0">
                <a:solidFill>
                  <a:srgbClr val="000000"/>
                </a:solidFill>
                <a:effectLst/>
                <a:latin typeface="Calibri" panose="020F0502020204030204" pitchFamily="34" charset="0"/>
              </a:rPr>
              <a:t>“Google </a:t>
            </a:r>
            <a:r>
              <a:rPr lang="en-US" sz="2400" b="0" i="0" dirty="0" err="1">
                <a:solidFill>
                  <a:srgbClr val="000000"/>
                </a:solidFill>
                <a:effectLst/>
                <a:latin typeface="Calibri" panose="020F0502020204030204" pitchFamily="34" charset="0"/>
              </a:rPr>
              <a:t>Colaboratory</a:t>
            </a:r>
            <a:r>
              <a:rPr lang="en-US" sz="2400" b="0" i="0" dirty="0">
                <a:solidFill>
                  <a:srgbClr val="000000"/>
                </a:solidFill>
                <a:effectLst/>
                <a:latin typeface="Calibri" panose="020F0502020204030204" pitchFamily="34" charset="0"/>
              </a:rPr>
              <a:t>,” </a:t>
            </a:r>
            <a:r>
              <a:rPr lang="en-US" sz="2400" b="0" i="1" dirty="0">
                <a:solidFill>
                  <a:srgbClr val="000000"/>
                </a:solidFill>
                <a:effectLst/>
                <a:latin typeface="Calibri" panose="020F0502020204030204" pitchFamily="34" charset="0"/>
              </a:rPr>
              <a:t>colab.research.google.com</a:t>
            </a:r>
            <a:r>
              <a:rPr lang="en-US" sz="2400" b="0" i="0" dirty="0">
                <a:solidFill>
                  <a:srgbClr val="000000"/>
                </a:solidFill>
                <a:effectLst/>
                <a:latin typeface="Calibri" panose="020F0502020204030204" pitchFamily="34" charset="0"/>
              </a:rPr>
              <a:t>. </a:t>
            </a:r>
            <a:r>
              <a:rPr lang="en-US" sz="2400" b="0" i="0" dirty="0">
                <a:solidFill>
                  <a:srgbClr val="000000"/>
                </a:solidFill>
                <a:effectLst/>
                <a:latin typeface="Calibri" panose="020F0502020204030204" pitchFamily="34" charset="0"/>
                <a:hlinkClick r:id="rId4"/>
              </a:rPr>
              <a:t>https://colab.research.google.com/github/CodeWithSridhar/Credit_Card_Default_Prediction/blob/main/Credit_Card_Default_Prediction_Capstone_Project.ipynb#scrollTo=e--YIm0Twg2y</a:t>
            </a:r>
            <a:endParaRPr lang="en-US" sz="2400" b="0" i="0" dirty="0">
              <a:solidFill>
                <a:srgbClr val="000000"/>
              </a:solidFill>
              <a:effectLst/>
              <a:latin typeface="Calibri" panose="020F0502020204030204" pitchFamily="34" charset="0"/>
            </a:endParaRPr>
          </a:p>
          <a:p>
            <a:pPr marL="0" indent="0" algn="l">
              <a:buNone/>
            </a:pPr>
            <a:r>
              <a:rPr lang="en-US" sz="2400" b="0" i="0" dirty="0">
                <a:solidFill>
                  <a:srgbClr val="000000"/>
                </a:solidFill>
                <a:effectLst/>
                <a:latin typeface="Calibri" panose="020F0502020204030204" pitchFamily="34" charset="0"/>
              </a:rPr>
              <a:t>“</a:t>
            </a:r>
            <a:r>
              <a:rPr lang="en-US" sz="2400" b="0" i="0" dirty="0" err="1">
                <a:solidFill>
                  <a:srgbClr val="000000"/>
                </a:solidFill>
                <a:effectLst/>
                <a:latin typeface="Calibri" panose="020F0502020204030204" pitchFamily="34" charset="0"/>
              </a:rPr>
              <a:t>Credit_Card_Default_Prediction</a:t>
            </a:r>
            <a:r>
              <a:rPr lang="en-US" sz="2400" b="0" i="0" dirty="0">
                <a:solidFill>
                  <a:srgbClr val="000000"/>
                </a:solidFill>
                <a:effectLst/>
                <a:latin typeface="Calibri" panose="020F0502020204030204" pitchFamily="34" charset="0"/>
              </a:rPr>
              <a:t>/</a:t>
            </a:r>
            <a:r>
              <a:rPr lang="en-US" sz="2400" b="0" i="0" dirty="0" err="1">
                <a:solidFill>
                  <a:srgbClr val="000000"/>
                </a:solidFill>
                <a:effectLst/>
                <a:latin typeface="Calibri" panose="020F0502020204030204" pitchFamily="34" charset="0"/>
              </a:rPr>
              <a:t>Credit_Card_Default_Prediction_Capstone_Project.ipynb</a:t>
            </a:r>
            <a:r>
              <a:rPr lang="en-US" sz="2400" b="0" i="0" dirty="0">
                <a:solidFill>
                  <a:srgbClr val="000000"/>
                </a:solidFill>
                <a:effectLst/>
                <a:latin typeface="Calibri" panose="020F0502020204030204" pitchFamily="34" charset="0"/>
              </a:rPr>
              <a:t> at main · </a:t>
            </a:r>
            <a:r>
              <a:rPr lang="en-US" sz="2400" b="0" i="0" dirty="0" err="1">
                <a:solidFill>
                  <a:srgbClr val="000000"/>
                </a:solidFill>
                <a:effectLst/>
                <a:latin typeface="Calibri" panose="020F0502020204030204" pitchFamily="34" charset="0"/>
              </a:rPr>
              <a:t>CodeWithSridhar</a:t>
            </a:r>
            <a:r>
              <a:rPr lang="en-US" sz="2400" b="0" i="0" dirty="0">
                <a:solidFill>
                  <a:srgbClr val="000000"/>
                </a:solidFill>
                <a:effectLst/>
                <a:latin typeface="Calibri" panose="020F0502020204030204" pitchFamily="34" charset="0"/>
              </a:rPr>
              <a:t>/</a:t>
            </a:r>
            <a:r>
              <a:rPr lang="en-US" sz="2400" b="0" i="0" dirty="0" err="1">
                <a:solidFill>
                  <a:srgbClr val="000000"/>
                </a:solidFill>
                <a:effectLst/>
                <a:latin typeface="Calibri" panose="020F0502020204030204" pitchFamily="34" charset="0"/>
              </a:rPr>
              <a:t>Credit_Card_Default_Prediction</a:t>
            </a:r>
            <a:r>
              <a:rPr lang="en-US" sz="2400" b="0" i="0" dirty="0">
                <a:solidFill>
                  <a:srgbClr val="000000"/>
                </a:solidFill>
                <a:effectLst/>
                <a:latin typeface="Calibri" panose="020F0502020204030204" pitchFamily="34" charset="0"/>
              </a:rPr>
              <a:t>,” </a:t>
            </a:r>
            <a:r>
              <a:rPr lang="en-US" sz="2400" b="0" i="1" dirty="0">
                <a:solidFill>
                  <a:srgbClr val="000000"/>
                </a:solidFill>
                <a:effectLst/>
                <a:latin typeface="Calibri" panose="020F0502020204030204" pitchFamily="34" charset="0"/>
              </a:rPr>
              <a:t>GitHub</a:t>
            </a:r>
            <a:r>
              <a:rPr lang="en-US" sz="2400" b="0" i="0" dirty="0">
                <a:solidFill>
                  <a:srgbClr val="000000"/>
                </a:solidFill>
                <a:effectLst/>
                <a:latin typeface="Calibri" panose="020F0502020204030204" pitchFamily="34" charset="0"/>
              </a:rPr>
              <a:t>. </a:t>
            </a:r>
            <a:r>
              <a:rPr lang="en-US" sz="2400" b="0" i="0" dirty="0">
                <a:solidFill>
                  <a:srgbClr val="000000"/>
                </a:solidFill>
                <a:effectLst/>
                <a:latin typeface="Calibri" panose="020F0502020204030204" pitchFamily="34" charset="0"/>
                <a:hlinkClick r:id="rId5"/>
              </a:rPr>
              <a:t>https://github.com/CodeWithSridhar/Credit_Card_Default_Prediction/blob/main/Credit_Card_Default_Prediction_Capstone_Project.ipynb</a:t>
            </a:r>
            <a:endParaRPr lang="en-US" sz="2400" b="0" i="0" dirty="0">
              <a:solidFill>
                <a:srgbClr val="000000"/>
              </a:solidFill>
              <a:effectLst/>
              <a:latin typeface="Calibri" panose="020F0502020204030204" pitchFamily="34" charset="0"/>
            </a:endParaRPr>
          </a:p>
          <a:p>
            <a:pPr marL="0" indent="0" algn="l">
              <a:buNone/>
            </a:pPr>
            <a:r>
              <a:rPr lang="en-US" sz="2400" b="0" i="0" dirty="0">
                <a:solidFill>
                  <a:srgbClr val="000000"/>
                </a:solidFill>
                <a:effectLst/>
                <a:latin typeface="Calibri" panose="020F0502020204030204" pitchFamily="34" charset="0"/>
              </a:rPr>
              <a:t>“Credit Card💳 Default Prediction,” </a:t>
            </a:r>
            <a:r>
              <a:rPr lang="en-US" sz="2400" b="0" i="1" dirty="0">
                <a:solidFill>
                  <a:srgbClr val="000000"/>
                </a:solidFill>
                <a:effectLst/>
                <a:latin typeface="Calibri" panose="020F0502020204030204" pitchFamily="34" charset="0"/>
              </a:rPr>
              <a:t>kaggle.com</a:t>
            </a:r>
            <a:r>
              <a:rPr lang="en-US" sz="2400" b="0" i="0" dirty="0">
                <a:solidFill>
                  <a:srgbClr val="000000"/>
                </a:solidFill>
                <a:effectLst/>
                <a:latin typeface="Calibri" panose="020F0502020204030204" pitchFamily="34" charset="0"/>
              </a:rPr>
              <a:t>. </a:t>
            </a:r>
            <a:r>
              <a:rPr lang="en-US" sz="2400" b="0" i="0" dirty="0">
                <a:solidFill>
                  <a:srgbClr val="000000"/>
                </a:solidFill>
                <a:effectLst/>
                <a:latin typeface="Calibri" panose="020F0502020204030204" pitchFamily="34" charset="0"/>
                <a:hlinkClick r:id="rId6"/>
              </a:rPr>
              <a:t>https://www.kaggle.com/code/bansodesandeep/credit-card-default-prediction#Evaluating-the-models</a:t>
            </a:r>
            <a:endParaRPr lang="en-US" sz="2400" b="0" i="0" dirty="0">
              <a:solidFill>
                <a:srgbClr val="000000"/>
              </a:solidFill>
              <a:effectLst/>
              <a:latin typeface="Calibri" panose="020F0502020204030204" pitchFamily="34" charset="0"/>
            </a:endParaRPr>
          </a:p>
          <a:p>
            <a:pPr marL="0" marR="457200" indent="0" algn="l">
              <a:buNone/>
            </a:pPr>
            <a:r>
              <a:rPr lang="en-US" sz="2400" b="0" i="0" dirty="0">
                <a:solidFill>
                  <a:srgbClr val="000000"/>
                </a:solidFill>
                <a:effectLst/>
                <a:latin typeface="Calibri" panose="020F0502020204030204" pitchFamily="34" charset="0"/>
              </a:rPr>
              <a:t>R. </a:t>
            </a:r>
            <a:r>
              <a:rPr lang="en-US" sz="2400" b="0" i="0" dirty="0" err="1">
                <a:solidFill>
                  <a:srgbClr val="000000"/>
                </a:solidFill>
                <a:effectLst/>
                <a:latin typeface="Calibri" panose="020F0502020204030204" pitchFamily="34" charset="0"/>
              </a:rPr>
              <a:t>Polanitzer</a:t>
            </a:r>
            <a:r>
              <a:rPr lang="en-US" sz="2400" b="0" i="0" dirty="0">
                <a:solidFill>
                  <a:srgbClr val="000000"/>
                </a:solidFill>
                <a:effectLst/>
                <a:latin typeface="Calibri" panose="020F0502020204030204" pitchFamily="34" charset="0"/>
              </a:rPr>
              <a:t>, “Machine Learning for Default of Credit Card Clients in Taiwan,” </a:t>
            </a:r>
            <a:r>
              <a:rPr lang="en-US" sz="2400" b="0" i="1" dirty="0">
                <a:solidFill>
                  <a:srgbClr val="000000"/>
                </a:solidFill>
                <a:effectLst/>
                <a:latin typeface="Calibri" panose="020F0502020204030204" pitchFamily="34" charset="0"/>
              </a:rPr>
              <a:t>Medium</a:t>
            </a:r>
            <a:r>
              <a:rPr lang="en-US" sz="2400" b="0" i="0" dirty="0">
                <a:solidFill>
                  <a:srgbClr val="000000"/>
                </a:solidFill>
                <a:effectLst/>
                <a:latin typeface="Calibri" panose="020F0502020204030204" pitchFamily="34" charset="0"/>
              </a:rPr>
              <a:t>, Feb. 03, 2022. </a:t>
            </a:r>
            <a:r>
              <a:rPr lang="en-US" sz="2400" b="0" i="0" dirty="0">
                <a:solidFill>
                  <a:srgbClr val="000000"/>
                </a:solidFill>
                <a:effectLst/>
                <a:latin typeface="Calibri" panose="020F0502020204030204" pitchFamily="34" charset="0"/>
                <a:hlinkClick r:id="rId7"/>
              </a:rPr>
              <a:t>https://medium.com/@polanitzer/machine-learning-for-default-of-credit-card-clients-in-taiwan-7336c79b5158</a:t>
            </a:r>
            <a:endParaRPr lang="en-US" sz="2400" b="0" i="0" dirty="0">
              <a:solidFill>
                <a:srgbClr val="000000"/>
              </a:solidFill>
              <a:effectLst/>
              <a:latin typeface="Calibri" panose="020F0502020204030204" pitchFamily="34" charset="0"/>
            </a:endParaRPr>
          </a:p>
          <a:p>
            <a:pPr marL="0" indent="0" algn="l">
              <a:buNone/>
            </a:pPr>
            <a:endParaRPr lang="en-US" sz="2400" b="0" i="0" dirty="0">
              <a:solidFill>
                <a:srgbClr val="000000"/>
              </a:solidFill>
              <a:effectLst/>
              <a:latin typeface="Calibri" panose="020F0502020204030204" pitchFamily="34" charset="0"/>
            </a:endParaRPr>
          </a:p>
          <a:p>
            <a:pPr marL="0" indent="0" algn="l">
              <a:buNone/>
            </a:pPr>
            <a:endParaRPr lang="en-US" sz="2400" b="0" i="0" dirty="0">
              <a:solidFill>
                <a:srgbClr val="000000"/>
              </a:solidFill>
              <a:effectLst/>
              <a:latin typeface="Calibri" panose="020F0502020204030204" pitchFamily="34" charset="0"/>
            </a:endParaRPr>
          </a:p>
        </p:txBody>
      </p:sp>
    </p:spTree>
    <p:extLst>
      <p:ext uri="{BB962C8B-B14F-4D97-AF65-F5344CB8AC3E}">
        <p14:creationId xmlns:p14="http://schemas.microsoft.com/office/powerpoint/2010/main" val="7289502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IN" sz="3200" b="1" dirty="0">
                <a:solidFill>
                  <a:srgbClr val="00B0F0"/>
                </a:solidFill>
                <a:latin typeface="Arial" pitchFamily="34" charset="0"/>
                <a:cs typeface="Arial" pitchFamily="34" charset="0"/>
              </a:rPr>
              <a:t>course certificate 1 </a:t>
            </a:r>
          </a:p>
        </p:txBody>
      </p:sp>
      <p:pic>
        <p:nvPicPr>
          <p:cNvPr id="4" name="Picture 3">
            <a:extLst>
              <a:ext uri="{FF2B5EF4-FFF2-40B4-BE49-F238E27FC236}">
                <a16:creationId xmlns:a16="http://schemas.microsoft.com/office/drawing/2014/main" id="{275C6DE4-5B6E-9492-83F8-56229602E3C8}"/>
              </a:ext>
            </a:extLst>
          </p:cNvPr>
          <p:cNvPicPr>
            <a:picLocks noChangeAspect="1"/>
          </p:cNvPicPr>
          <p:nvPr/>
        </p:nvPicPr>
        <p:blipFill>
          <a:blip r:embed="rId2"/>
          <a:stretch>
            <a:fillRect/>
          </a:stretch>
        </p:blipFill>
        <p:spPr>
          <a:xfrm>
            <a:off x="2765254" y="1232452"/>
            <a:ext cx="6661492" cy="5181866"/>
          </a:xfrm>
          <a:prstGeom prst="rect">
            <a:avLst/>
          </a:prstGeom>
        </p:spPr>
      </p:pic>
    </p:spTree>
    <p:extLst>
      <p:ext uri="{BB962C8B-B14F-4D97-AF65-F5344CB8AC3E}">
        <p14:creationId xmlns:p14="http://schemas.microsoft.com/office/powerpoint/2010/main" val="39298267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6432" y="717396"/>
            <a:ext cx="11029616" cy="530296"/>
          </a:xfrm>
        </p:spPr>
        <p:txBody>
          <a:bodyPr>
            <a:noAutofit/>
          </a:bodyPr>
          <a:lstStyle/>
          <a:p>
            <a:r>
              <a:rPr lang="en-IN" sz="3200" b="1" dirty="0">
                <a:solidFill>
                  <a:srgbClr val="00B0F0"/>
                </a:solidFill>
                <a:latin typeface="Arial" pitchFamily="34" charset="0"/>
                <a:cs typeface="Arial" pitchFamily="34" charset="0"/>
              </a:rPr>
              <a:t>course certificate 2</a:t>
            </a:r>
          </a:p>
        </p:txBody>
      </p:sp>
      <p:pic>
        <p:nvPicPr>
          <p:cNvPr id="4" name="Picture 3">
            <a:extLst>
              <a:ext uri="{FF2B5EF4-FFF2-40B4-BE49-F238E27FC236}">
                <a16:creationId xmlns:a16="http://schemas.microsoft.com/office/drawing/2014/main" id="{4D234B73-E889-CFF0-BD55-AC0D914F87D3}"/>
              </a:ext>
            </a:extLst>
          </p:cNvPr>
          <p:cNvPicPr>
            <a:picLocks noChangeAspect="1"/>
          </p:cNvPicPr>
          <p:nvPr/>
        </p:nvPicPr>
        <p:blipFill>
          <a:blip r:embed="rId2"/>
          <a:stretch>
            <a:fillRect/>
          </a:stretch>
        </p:blipFill>
        <p:spPr>
          <a:xfrm>
            <a:off x="2758267" y="1372870"/>
            <a:ext cx="6705945" cy="5175516"/>
          </a:xfrm>
          <a:prstGeom prst="rect">
            <a:avLst/>
          </a:prstGeom>
        </p:spPr>
      </p:pic>
    </p:spTree>
    <p:extLst>
      <p:ext uri="{BB962C8B-B14F-4D97-AF65-F5344CB8AC3E}">
        <p14:creationId xmlns:p14="http://schemas.microsoft.com/office/powerpoint/2010/main" val="25123102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BE4CA82-64EC-4D4E-A5E5-3EBB66E7B24C}"/>
              </a:ext>
            </a:extLst>
          </p:cNvPr>
          <p:cNvSpPr>
            <a:spLocks noGrp="1"/>
          </p:cNvSpPr>
          <p:nvPr>
            <p:ph type="title"/>
          </p:nvPr>
        </p:nvSpPr>
        <p:spPr>
          <a:xfrm>
            <a:off x="1463041" y="2766218"/>
            <a:ext cx="9298744" cy="1325563"/>
          </a:xfrm>
        </p:spPr>
        <p:txBody>
          <a:bodyPr/>
          <a:lstStyle/>
          <a:p>
            <a:pPr algn="ctr"/>
            <a:r>
              <a:rPr lang="en-US" b="1">
                <a:solidFill>
                  <a:srgbClr val="002060"/>
                </a:solidFill>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4066255318"/>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9162bd5b-4ed9-4da3-b376-05204580ba3f" xsi:nil="true"/>
    <_activity xmlns="9162bd5b-4ed9-4da3-b376-05204580ba3f"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7" ma:contentTypeDescription="Create a new document." ma:contentTypeScope="" ma:versionID="55a158675e089c6a85ab0f83b89e1a15">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b35f082308864fa161c4a0a9eca35eff"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element ref="ns3:MediaServiceObjectDetectorVersions"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D289AE2-D2AE-49D1-AFAC-3A79F6794255}">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schemas.microsoft.com/office/2006/metadata/properties"/>
    <ds:schemaRef ds:uri="c0fa2617-96bd-425d-8578-e93563fe37c5"/>
    <ds:schemaRef ds:uri="9162bd5b-4ed9-4da3-b376-05204580ba3f"/>
    <ds:schemaRef ds:uri="http://www.w3.org/XML/1998/namespace"/>
    <ds:schemaRef ds:uri="http://purl.org/dc/dcmitype/"/>
  </ds:schemaRefs>
</ds:datastoreItem>
</file>

<file path=customXml/itemProps2.xml><?xml version="1.0" encoding="utf-8"?>
<ds:datastoreItem xmlns:ds="http://schemas.openxmlformats.org/officeDocument/2006/customXml" ds:itemID="{6E816721-11E4-4989-8472-AB5A7EC20404}">
  <ds:schemaRefs>
    <ds:schemaRef ds:uri="9162bd5b-4ed9-4da3-b376-05204580ba3f"/>
    <ds:schemaRef ds:uri="c0fa2617-96bd-425d-8578-e93563fe37c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927BD4C1-B6B1-4715-ABF9-E660A51A4EA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Future forward</Template>
  <TotalTime>547</TotalTime>
  <Words>1457</Words>
  <Application>Microsoft Office PowerPoint</Application>
  <PresentationFormat>Widescreen</PresentationFormat>
  <Paragraphs>98</Paragraphs>
  <Slides>17</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Aptos Narrow</vt:lpstr>
      <vt:lpstr>Arial</vt:lpstr>
      <vt:lpstr>Calibri</vt:lpstr>
      <vt:lpstr>Calibri Light</vt:lpstr>
      <vt:lpstr>Franklin Gothic Book</vt:lpstr>
      <vt:lpstr>Franklin Gothic Demi</vt:lpstr>
      <vt:lpstr>Wingdings 2</vt:lpstr>
      <vt:lpstr>DividendVTI</vt:lpstr>
      <vt:lpstr>Credit card default prediction</vt:lpstr>
      <vt:lpstr>OUTLINE</vt:lpstr>
      <vt:lpstr>Problem Statement</vt:lpstr>
      <vt:lpstr>Proposed Solution</vt:lpstr>
      <vt:lpstr>System  Approach</vt:lpstr>
      <vt:lpstr>System requirements</vt:lpstr>
      <vt:lpstr>Library(s) required to built the model</vt:lpstr>
      <vt:lpstr>Algorithm &amp; Deployment</vt:lpstr>
      <vt:lpstr>Result</vt:lpstr>
      <vt:lpstr>… continuation</vt:lpstr>
      <vt:lpstr>… continuation</vt:lpstr>
      <vt:lpstr>Conclusion</vt:lpstr>
      <vt:lpstr>PowerPoint Presentation</vt:lpstr>
      <vt:lpstr>References</vt:lpstr>
      <vt:lpstr>course certificate 1 </vt:lpstr>
      <vt:lpstr>course certificate 2</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SkillsBuild Partner Update template</dc:title>
  <dc:creator>Vaibhav Ostwal</dc:creator>
  <cp:lastModifiedBy>Sneha Tandon</cp:lastModifiedBy>
  <cp:revision>22</cp:revision>
  <dcterms:created xsi:type="dcterms:W3CDTF">2021-05-26T16:50:10Z</dcterms:created>
  <dcterms:modified xsi:type="dcterms:W3CDTF">2024-03-25T17:04:05Z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ies>
</file>